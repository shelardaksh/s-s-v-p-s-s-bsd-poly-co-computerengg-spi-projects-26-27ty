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74"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D346D6-B943-40B2-B39A-F18AB5C17536}" v="5" dt="2026-10-19T06:16:40.309"/>
  </p1510:revLst>
</p1510:revInfo>
</file>

<file path=ppt/tableStyles.xml><?xml version="1.0" encoding="utf-8"?>
<a:tblStyleLst xmlns:a="http://schemas.openxmlformats.org/drawingml/2006/main" def="{98077A5B-8C0D-40D8-8557-44EC33DBB8F6}">
  <a:tblStyle styleId="{98077A5B-8C0D-40D8-8557-44EC33DBB8F6}" styleName="Table_0">
    <a:wholeTbl>
      <a:tcTxStyle b="off" i="off">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Times New Roman"/>
          <a:ea typeface="Times New Roman"/>
          <a:cs typeface="Times New Roman"/>
        </a:font>
        <a:schemeClr val="lt1"/>
      </a:tcTxStyle>
      <a:tcStyle>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1502"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KSH SHELAR" userId="2bf7d3bac638a07c" providerId="LiveId" clId="{9F22D7B0-257A-44A0-9B05-1FC6261FA42B}"/>
    <pc:docChg chg="custSel delSld modSld">
      <pc:chgData name="DAKSH SHELAR" userId="2bf7d3bac638a07c" providerId="LiveId" clId="{9F22D7B0-257A-44A0-9B05-1FC6261FA42B}" dt="2026-10-19T06:22:26.221" v="92" actId="1076"/>
      <pc:docMkLst>
        <pc:docMk/>
      </pc:docMkLst>
      <pc:sldChg chg="modSp mod">
        <pc:chgData name="DAKSH SHELAR" userId="2bf7d3bac638a07c" providerId="LiveId" clId="{9F22D7B0-257A-44A0-9B05-1FC6261FA42B}" dt="2026-10-19T06:21:02.566" v="89" actId="1076"/>
        <pc:sldMkLst>
          <pc:docMk/>
          <pc:sldMk cId="0" sldId="256"/>
        </pc:sldMkLst>
        <pc:graphicFrameChg chg="mod modGraphic">
          <ac:chgData name="DAKSH SHELAR" userId="2bf7d3bac638a07c" providerId="LiveId" clId="{9F22D7B0-257A-44A0-9B05-1FC6261FA42B}" dt="2026-10-19T06:21:02.566" v="89" actId="1076"/>
          <ac:graphicFrameMkLst>
            <pc:docMk/>
            <pc:sldMk cId="0" sldId="256"/>
            <ac:graphicFrameMk id="504" creationId="{00000000-0000-0000-0000-000000000000}"/>
          </ac:graphicFrameMkLst>
        </pc:graphicFrameChg>
      </pc:sldChg>
      <pc:sldChg chg="modSp mod">
        <pc:chgData name="DAKSH SHELAR" userId="2bf7d3bac638a07c" providerId="LiveId" clId="{9F22D7B0-257A-44A0-9B05-1FC6261FA42B}" dt="2026-10-19T06:21:52.804" v="91" actId="1076"/>
        <pc:sldMkLst>
          <pc:docMk/>
          <pc:sldMk cId="0" sldId="258"/>
        </pc:sldMkLst>
        <pc:spChg chg="mod">
          <ac:chgData name="DAKSH SHELAR" userId="2bf7d3bac638a07c" providerId="LiveId" clId="{9F22D7B0-257A-44A0-9B05-1FC6261FA42B}" dt="2026-10-19T06:21:45.655" v="90" actId="14100"/>
          <ac:spMkLst>
            <pc:docMk/>
            <pc:sldMk cId="0" sldId="258"/>
            <ac:spMk id="518" creationId="{00000000-0000-0000-0000-000000000000}"/>
          </ac:spMkLst>
        </pc:spChg>
        <pc:spChg chg="mod">
          <ac:chgData name="DAKSH SHELAR" userId="2bf7d3bac638a07c" providerId="LiveId" clId="{9F22D7B0-257A-44A0-9B05-1FC6261FA42B}" dt="2026-10-19T06:21:52.804" v="91" actId="1076"/>
          <ac:spMkLst>
            <pc:docMk/>
            <pc:sldMk cId="0" sldId="258"/>
            <ac:spMk id="519" creationId="{00000000-0000-0000-0000-000000000000}"/>
          </ac:spMkLst>
        </pc:spChg>
      </pc:sldChg>
      <pc:sldChg chg="addSp delSp modSp mod">
        <pc:chgData name="DAKSH SHELAR" userId="2bf7d3bac638a07c" providerId="LiveId" clId="{9F22D7B0-257A-44A0-9B05-1FC6261FA42B}" dt="2026-10-19T06:11:27.961" v="40" actId="1076"/>
        <pc:sldMkLst>
          <pc:docMk/>
          <pc:sldMk cId="0" sldId="259"/>
        </pc:sldMkLst>
        <pc:spChg chg="add del mod">
          <ac:chgData name="DAKSH SHELAR" userId="2bf7d3bac638a07c" providerId="LiveId" clId="{9F22D7B0-257A-44A0-9B05-1FC6261FA42B}" dt="2026-10-19T06:09:29.957" v="31" actId="478"/>
          <ac:spMkLst>
            <pc:docMk/>
            <pc:sldMk cId="0" sldId="259"/>
            <ac:spMk id="2" creationId="{BA224218-B2FA-59CD-FD21-F8B2B904739C}"/>
          </ac:spMkLst>
        </pc:spChg>
        <pc:spChg chg="add mod">
          <ac:chgData name="DAKSH SHELAR" userId="2bf7d3bac638a07c" providerId="LiveId" clId="{9F22D7B0-257A-44A0-9B05-1FC6261FA42B}" dt="2026-10-19T06:11:27.961" v="40" actId="1076"/>
          <ac:spMkLst>
            <pc:docMk/>
            <pc:sldMk cId="0" sldId="259"/>
            <ac:spMk id="3" creationId="{976D3B2D-66B4-B646-029C-81AFD927828E}"/>
          </ac:spMkLst>
        </pc:spChg>
        <pc:spChg chg="add mod">
          <ac:chgData name="DAKSH SHELAR" userId="2bf7d3bac638a07c" providerId="LiveId" clId="{9F22D7B0-257A-44A0-9B05-1FC6261FA42B}" dt="2026-10-19T06:08:10.659" v="8" actId="1076"/>
          <ac:spMkLst>
            <pc:docMk/>
            <pc:sldMk cId="0" sldId="259"/>
            <ac:spMk id="4" creationId="{04630F88-EBAF-4910-E4B5-76A46E56DCCB}"/>
          </ac:spMkLst>
        </pc:spChg>
        <pc:spChg chg="add mod">
          <ac:chgData name="DAKSH SHELAR" userId="2bf7d3bac638a07c" providerId="LiveId" clId="{9F22D7B0-257A-44A0-9B05-1FC6261FA42B}" dt="2026-10-19T06:08:10.659" v="8" actId="1076"/>
          <ac:spMkLst>
            <pc:docMk/>
            <pc:sldMk cId="0" sldId="259"/>
            <ac:spMk id="5" creationId="{F5DEB8A3-F39D-75B1-FED7-92524BCF39A7}"/>
          </ac:spMkLst>
        </pc:spChg>
        <pc:spChg chg="add mod">
          <ac:chgData name="DAKSH SHELAR" userId="2bf7d3bac638a07c" providerId="LiveId" clId="{9F22D7B0-257A-44A0-9B05-1FC6261FA42B}" dt="2026-10-19T06:08:10.659" v="8" actId="1076"/>
          <ac:spMkLst>
            <pc:docMk/>
            <pc:sldMk cId="0" sldId="259"/>
            <ac:spMk id="6" creationId="{5A24B9E5-4B8F-CCFE-3E01-2F363D3C2201}"/>
          </ac:spMkLst>
        </pc:spChg>
        <pc:spChg chg="mod">
          <ac:chgData name="DAKSH SHELAR" userId="2bf7d3bac638a07c" providerId="LiveId" clId="{9F22D7B0-257A-44A0-9B05-1FC6261FA42B}" dt="2026-10-19T06:10:57.382" v="38" actId="1076"/>
          <ac:spMkLst>
            <pc:docMk/>
            <pc:sldMk cId="0" sldId="259"/>
            <ac:spMk id="524" creationId="{00000000-0000-0000-0000-000000000000}"/>
          </ac:spMkLst>
        </pc:spChg>
        <pc:spChg chg="mod">
          <ac:chgData name="DAKSH SHELAR" userId="2bf7d3bac638a07c" providerId="LiveId" clId="{9F22D7B0-257A-44A0-9B05-1FC6261FA42B}" dt="2026-10-19T06:10:35.928" v="37" actId="207"/>
          <ac:spMkLst>
            <pc:docMk/>
            <pc:sldMk cId="0" sldId="259"/>
            <ac:spMk id="525" creationId="{00000000-0000-0000-0000-000000000000}"/>
          </ac:spMkLst>
        </pc:spChg>
        <pc:spChg chg="del">
          <ac:chgData name="DAKSH SHELAR" userId="2bf7d3bac638a07c" providerId="LiveId" clId="{9F22D7B0-257A-44A0-9B05-1FC6261FA42B}" dt="2026-10-19T06:07:51.734" v="3" actId="478"/>
          <ac:spMkLst>
            <pc:docMk/>
            <pc:sldMk cId="0" sldId="259"/>
            <ac:spMk id="528" creationId="{00000000-0000-0000-0000-000000000000}"/>
          </ac:spMkLst>
        </pc:spChg>
        <pc:picChg chg="del">
          <ac:chgData name="DAKSH SHELAR" userId="2bf7d3bac638a07c" providerId="LiveId" clId="{9F22D7B0-257A-44A0-9B05-1FC6261FA42B}" dt="2026-10-19T06:07:46.982" v="2" actId="478"/>
          <ac:picMkLst>
            <pc:docMk/>
            <pc:sldMk cId="0" sldId="259"/>
            <ac:picMk id="527" creationId="{00000000-0000-0000-0000-000000000000}"/>
          </ac:picMkLst>
        </pc:picChg>
        <pc:cxnChg chg="add mod">
          <ac:chgData name="DAKSH SHELAR" userId="2bf7d3bac638a07c" providerId="LiveId" clId="{9F22D7B0-257A-44A0-9B05-1FC6261FA42B}" dt="2026-10-19T06:08:10.659" v="8" actId="1076"/>
          <ac:cxnSpMkLst>
            <pc:docMk/>
            <pc:sldMk cId="0" sldId="259"/>
            <ac:cxnSpMk id="7" creationId="{FC8B4F79-87AF-8E99-ECC9-B8414141147A}"/>
          </ac:cxnSpMkLst>
        </pc:cxnChg>
        <pc:cxnChg chg="add mod">
          <ac:chgData name="DAKSH SHELAR" userId="2bf7d3bac638a07c" providerId="LiveId" clId="{9F22D7B0-257A-44A0-9B05-1FC6261FA42B}" dt="2026-10-19T06:08:10.659" v="8" actId="1076"/>
          <ac:cxnSpMkLst>
            <pc:docMk/>
            <pc:sldMk cId="0" sldId="259"/>
            <ac:cxnSpMk id="8" creationId="{747709E4-D2B8-5858-8422-873AF2682BEF}"/>
          </ac:cxnSpMkLst>
        </pc:cxnChg>
      </pc:sldChg>
      <pc:sldChg chg="addSp delSp modSp mod">
        <pc:chgData name="DAKSH SHELAR" userId="2bf7d3bac638a07c" providerId="LiveId" clId="{9F22D7B0-257A-44A0-9B05-1FC6261FA42B}" dt="2026-10-19T06:22:26.221" v="92" actId="1076"/>
        <pc:sldMkLst>
          <pc:docMk/>
          <pc:sldMk cId="0" sldId="260"/>
        </pc:sldMkLst>
        <pc:spChg chg="mod">
          <ac:chgData name="DAKSH SHELAR" userId="2bf7d3bac638a07c" providerId="LiveId" clId="{9F22D7B0-257A-44A0-9B05-1FC6261FA42B}" dt="2026-10-19T06:22:26.221" v="92" actId="1076"/>
          <ac:spMkLst>
            <pc:docMk/>
            <pc:sldMk cId="0" sldId="260"/>
            <ac:spMk id="533" creationId="{00000000-0000-0000-0000-000000000000}"/>
          </ac:spMkLst>
        </pc:spChg>
        <pc:graphicFrameChg chg="del modGraphic">
          <ac:chgData name="DAKSH SHELAR" userId="2bf7d3bac638a07c" providerId="LiveId" clId="{9F22D7B0-257A-44A0-9B05-1FC6261FA42B}" dt="2026-10-19T06:12:21.882" v="43" actId="478"/>
          <ac:graphicFrameMkLst>
            <pc:docMk/>
            <pc:sldMk cId="0" sldId="260"/>
            <ac:graphicFrameMk id="3" creationId="{20C7D25D-C2DD-14C4-3795-EFBE3BAD0452}"/>
          </ac:graphicFrameMkLst>
        </pc:graphicFrameChg>
        <pc:picChg chg="add mod">
          <ac:chgData name="DAKSH SHELAR" userId="2bf7d3bac638a07c" providerId="LiveId" clId="{9F22D7B0-257A-44A0-9B05-1FC6261FA42B}" dt="2026-10-19T06:13:03.275" v="49" actId="14100"/>
          <ac:picMkLst>
            <pc:docMk/>
            <pc:sldMk cId="0" sldId="260"/>
            <ac:picMk id="2" creationId="{E8964F6F-C562-367F-D088-E7BF2EC14E27}"/>
          </ac:picMkLst>
        </pc:picChg>
      </pc:sldChg>
      <pc:sldChg chg="modSp mod">
        <pc:chgData name="DAKSH SHELAR" userId="2bf7d3bac638a07c" providerId="LiveId" clId="{9F22D7B0-257A-44A0-9B05-1FC6261FA42B}" dt="2026-10-19T06:07:58.803" v="6" actId="27636"/>
        <pc:sldMkLst>
          <pc:docMk/>
          <pc:sldMk cId="0" sldId="265"/>
        </pc:sldMkLst>
        <pc:spChg chg="mod">
          <ac:chgData name="DAKSH SHELAR" userId="2bf7d3bac638a07c" providerId="LiveId" clId="{9F22D7B0-257A-44A0-9B05-1FC6261FA42B}" dt="2026-10-19T06:07:58.803" v="6" actId="27636"/>
          <ac:spMkLst>
            <pc:docMk/>
            <pc:sldMk cId="0" sldId="265"/>
            <ac:spMk id="566" creationId="{00000000-0000-0000-0000-000000000000}"/>
          </ac:spMkLst>
        </pc:spChg>
      </pc:sldChg>
      <pc:sldChg chg="modSp mod">
        <pc:chgData name="DAKSH SHELAR" userId="2bf7d3bac638a07c" providerId="LiveId" clId="{9F22D7B0-257A-44A0-9B05-1FC6261FA42B}" dt="2026-10-19T06:07:58.819" v="7" actId="27636"/>
        <pc:sldMkLst>
          <pc:docMk/>
          <pc:sldMk cId="0" sldId="266"/>
        </pc:sldMkLst>
        <pc:spChg chg="mod">
          <ac:chgData name="DAKSH SHELAR" userId="2bf7d3bac638a07c" providerId="LiveId" clId="{9F22D7B0-257A-44A0-9B05-1FC6261FA42B}" dt="2026-10-19T06:07:58.819" v="7" actId="27636"/>
          <ac:spMkLst>
            <pc:docMk/>
            <pc:sldMk cId="0" sldId="266"/>
            <ac:spMk id="573" creationId="{00000000-0000-0000-0000-000000000000}"/>
          </ac:spMkLst>
        </pc:spChg>
      </pc:sldChg>
      <pc:sldChg chg="addSp delSp modSp del mod">
        <pc:chgData name="DAKSH SHELAR" userId="2bf7d3bac638a07c" providerId="LiveId" clId="{9F22D7B0-257A-44A0-9B05-1FC6261FA42B}" dt="2026-10-19T06:17:28.824" v="85" actId="2696"/>
        <pc:sldMkLst>
          <pc:docMk/>
          <pc:sldMk cId="2959878552" sldId="273"/>
        </pc:sldMkLst>
        <pc:spChg chg="del">
          <ac:chgData name="DAKSH SHELAR" userId="2bf7d3bac638a07c" providerId="LiveId" clId="{9F22D7B0-257A-44A0-9B05-1FC6261FA42B}" dt="2026-10-19T06:17:13.194" v="84" actId="478"/>
          <ac:spMkLst>
            <pc:docMk/>
            <pc:sldMk cId="2959878552" sldId="273"/>
            <ac:spMk id="3" creationId="{A04272B4-E94B-5454-9802-F52071294196}"/>
          </ac:spMkLst>
        </pc:spChg>
        <pc:spChg chg="add mod">
          <ac:chgData name="DAKSH SHELAR" userId="2bf7d3bac638a07c" providerId="LiveId" clId="{9F22D7B0-257A-44A0-9B05-1FC6261FA42B}" dt="2026-10-19T06:17:13.194" v="84" actId="478"/>
          <ac:spMkLst>
            <pc:docMk/>
            <pc:sldMk cId="2959878552" sldId="273"/>
            <ac:spMk id="6" creationId="{A590466C-BE1A-7F6D-74FB-C4B8328A48B4}"/>
          </ac:spMkLst>
        </pc:spChg>
        <pc:graphicFrameChg chg="del modGraphic">
          <ac:chgData name="DAKSH SHELAR" userId="2bf7d3bac638a07c" providerId="LiveId" clId="{9F22D7B0-257A-44A0-9B05-1FC6261FA42B}" dt="2026-10-19T06:17:13.194" v="84" actId="478"/>
          <ac:graphicFrameMkLst>
            <pc:docMk/>
            <pc:sldMk cId="2959878552" sldId="273"/>
            <ac:graphicFrameMk id="5" creationId="{897499E5-8CB4-DAE8-21FB-4BE7CB70F5F3}"/>
          </ac:graphicFrameMkLst>
        </pc:graphicFrameChg>
      </pc:sldChg>
      <pc:sldChg chg="addSp delSp modSp mod">
        <pc:chgData name="DAKSH SHELAR" userId="2bf7d3bac638a07c" providerId="LiveId" clId="{9F22D7B0-257A-44A0-9B05-1FC6261FA42B}" dt="2026-10-19T06:15:20.963" v="71" actId="478"/>
        <pc:sldMkLst>
          <pc:docMk/>
          <pc:sldMk cId="3939053908" sldId="274"/>
        </pc:sldMkLst>
        <pc:spChg chg="del">
          <ac:chgData name="DAKSH SHELAR" userId="2bf7d3bac638a07c" providerId="LiveId" clId="{9F22D7B0-257A-44A0-9B05-1FC6261FA42B}" dt="2026-10-19T06:14:19.930" v="64" actId="478"/>
          <ac:spMkLst>
            <pc:docMk/>
            <pc:sldMk cId="3939053908" sldId="274"/>
            <ac:spMk id="3" creationId="{D6D4444E-40A1-3D3D-EB8D-55BB4B08FF36}"/>
          </ac:spMkLst>
        </pc:spChg>
        <pc:spChg chg="add del mod">
          <ac:chgData name="DAKSH SHELAR" userId="2bf7d3bac638a07c" providerId="LiveId" clId="{9F22D7B0-257A-44A0-9B05-1FC6261FA42B}" dt="2026-10-19T06:15:20.963" v="71" actId="478"/>
          <ac:spMkLst>
            <pc:docMk/>
            <pc:sldMk cId="3939053908" sldId="274"/>
            <ac:spMk id="6" creationId="{FAF88F80-1F5C-6EA0-01F2-0ECF31361E33}"/>
          </ac:spMkLst>
        </pc:spChg>
        <pc:graphicFrameChg chg="del modGraphic">
          <ac:chgData name="DAKSH SHELAR" userId="2bf7d3bac638a07c" providerId="LiveId" clId="{9F22D7B0-257A-44A0-9B05-1FC6261FA42B}" dt="2026-10-19T06:14:19.930" v="64" actId="478"/>
          <ac:graphicFrameMkLst>
            <pc:docMk/>
            <pc:sldMk cId="3939053908" sldId="274"/>
            <ac:graphicFrameMk id="5" creationId="{DFACAE3B-8C3E-AE68-D226-1A669FFA2F4B}"/>
          </ac:graphicFrameMkLst>
        </pc:graphicFrameChg>
        <pc:picChg chg="add mod">
          <ac:chgData name="DAKSH SHELAR" userId="2bf7d3bac638a07c" providerId="LiveId" clId="{9F22D7B0-257A-44A0-9B05-1FC6261FA42B}" dt="2026-10-19T06:15:03.167" v="70" actId="1076"/>
          <ac:picMkLst>
            <pc:docMk/>
            <pc:sldMk cId="3939053908" sldId="274"/>
            <ac:picMk id="7" creationId="{86350C7A-85FA-E025-E8C0-77853496AB27}"/>
          </ac:picMkLst>
        </pc:picChg>
      </pc:sldChg>
      <pc:sldChg chg="addSp delSp modSp del mod">
        <pc:chgData name="DAKSH SHELAR" userId="2bf7d3bac638a07c" providerId="LiveId" clId="{9F22D7B0-257A-44A0-9B05-1FC6261FA42B}" dt="2026-10-19T06:17:36.150" v="86" actId="2696"/>
        <pc:sldMkLst>
          <pc:docMk/>
          <pc:sldMk cId="1959362573" sldId="275"/>
        </pc:sldMkLst>
        <pc:spChg chg="del">
          <ac:chgData name="DAKSH SHELAR" userId="2bf7d3bac638a07c" providerId="LiveId" clId="{9F22D7B0-257A-44A0-9B05-1FC6261FA42B}" dt="2026-10-19T06:15:31.936" v="72" actId="478"/>
          <ac:spMkLst>
            <pc:docMk/>
            <pc:sldMk cId="1959362573" sldId="275"/>
            <ac:spMk id="3" creationId="{BB7A4394-3B9F-951C-C864-F2E9D1290C51}"/>
          </ac:spMkLst>
        </pc:spChg>
        <pc:spChg chg="add del mod">
          <ac:chgData name="DAKSH SHELAR" userId="2bf7d3bac638a07c" providerId="LiveId" clId="{9F22D7B0-257A-44A0-9B05-1FC6261FA42B}" dt="2026-10-19T06:16:12.896" v="74" actId="478"/>
          <ac:spMkLst>
            <pc:docMk/>
            <pc:sldMk cId="1959362573" sldId="275"/>
            <ac:spMk id="6" creationId="{E8B82869-E760-53B1-4F93-45571CA52316}"/>
          </ac:spMkLst>
        </pc:spChg>
        <pc:spChg chg="add del mod">
          <ac:chgData name="DAKSH SHELAR" userId="2bf7d3bac638a07c" providerId="LiveId" clId="{9F22D7B0-257A-44A0-9B05-1FC6261FA42B}" dt="2026-10-19T06:16:39.190" v="77"/>
          <ac:spMkLst>
            <pc:docMk/>
            <pc:sldMk cId="1959362573" sldId="275"/>
            <ac:spMk id="7" creationId="{EA13F5B4-7216-746A-785D-95D900643B69}"/>
          </ac:spMkLst>
        </pc:spChg>
        <pc:spChg chg="add del mod">
          <ac:chgData name="DAKSH SHELAR" userId="2bf7d3bac638a07c" providerId="LiveId" clId="{9F22D7B0-257A-44A0-9B05-1FC6261FA42B}" dt="2026-10-19T06:16:43.961" v="80"/>
          <ac:spMkLst>
            <pc:docMk/>
            <pc:sldMk cId="1959362573" sldId="275"/>
            <ac:spMk id="8" creationId="{58C62816-1ED3-6159-7B17-86FF7B5AB5B8}"/>
          </ac:spMkLst>
        </pc:spChg>
        <pc:graphicFrameChg chg="del">
          <ac:chgData name="DAKSH SHELAR" userId="2bf7d3bac638a07c" providerId="LiveId" clId="{9F22D7B0-257A-44A0-9B05-1FC6261FA42B}" dt="2026-10-19T06:15:38.020" v="73" actId="478"/>
          <ac:graphicFrameMkLst>
            <pc:docMk/>
            <pc:sldMk cId="1959362573" sldId="275"/>
            <ac:graphicFrameMk id="5" creationId="{91D3346C-B134-68BD-1C8D-125021426C8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2289661423"/>
              </p:ext>
            </p:extLst>
          </p:nvPr>
        </p:nvGraphicFramePr>
        <p:xfrm>
          <a:off x="252237" y="612711"/>
          <a:ext cx="8639525" cy="5489508"/>
        </p:xfrm>
        <a:graphic>
          <a:graphicData uri="http://schemas.openxmlformats.org/drawingml/2006/table">
            <a:tbl>
              <a:tblPr firstRow="1" bandRow="1">
                <a:noFill/>
                <a:tableStyleId>{98077A5B-8C0D-40D8-8557-44EC33DBB8F6}</a:tableStyleId>
              </a:tblPr>
              <a:tblGrid>
                <a:gridCol w="1476725">
                  <a:extLst>
                    <a:ext uri="{9D8B030D-6E8A-4147-A177-3AD203B41FA5}">
                      <a16:colId xmlns:a16="http://schemas.microsoft.com/office/drawing/2014/main" val="20000"/>
                    </a:ext>
                  </a:extLst>
                </a:gridCol>
                <a:gridCol w="3520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25">
                  <a:extLst>
                    <a:ext uri="{9D8B030D-6E8A-4147-A177-3AD203B41FA5}">
                      <a16:colId xmlns:a16="http://schemas.microsoft.com/office/drawing/2014/main" val="20003"/>
                    </a:ext>
                  </a:extLst>
                </a:gridCol>
              </a:tblGrid>
              <a:tr h="1823136">
                <a:tc>
                  <a:txBody>
                    <a:bodyPr/>
                    <a:lstStyle/>
                    <a:p>
                      <a:pPr marL="0" marR="0" lvl="0" indent="0" algn="ctr" rtl="0">
                        <a:spcBef>
                          <a:spcPts val="0"/>
                        </a:spcBef>
                        <a:spcAft>
                          <a:spcPts val="0"/>
                        </a:spcAft>
                        <a:buNone/>
                      </a:pPr>
                      <a:endParaRPr sz="2200"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dirty="0">
                          <a:solidFill>
                            <a:schemeClr val="lt1"/>
                          </a:solidFill>
                        </a:rPr>
                        <a:t>S.S.V.P.S’s B. S. </a:t>
                      </a:r>
                      <a:r>
                        <a:rPr lang="en-US" sz="2800" u="none" strike="noStrike" cap="none" dirty="0" err="1">
                          <a:solidFill>
                            <a:schemeClr val="lt1"/>
                          </a:solidFill>
                        </a:rPr>
                        <a:t>Deore</a:t>
                      </a:r>
                      <a:r>
                        <a:rPr lang="en-US" sz="2800" u="none" strike="noStrike" cap="none" dirty="0">
                          <a:solidFill>
                            <a:schemeClr val="lt1"/>
                          </a:solidFill>
                        </a:rPr>
                        <a:t> Polytechnic, Dhule</a:t>
                      </a:r>
                      <a:endParaRPr sz="2800" u="none" strike="noStrike" cap="none" dirty="0">
                        <a:solidFill>
                          <a:schemeClr val="lt1"/>
                        </a:solidFill>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dirty="0">
                          <a:solidFill>
                            <a:schemeClr val="lt1"/>
                          </a:solidFill>
                        </a:rPr>
                        <a:t>Department of Computer Engineering</a:t>
                      </a:r>
                      <a:endParaRPr dirty="0"/>
                    </a:p>
                    <a:p>
                      <a:pPr marL="0" marR="0" lvl="0" indent="0" algn="ctr" rtl="0">
                        <a:spcBef>
                          <a:spcPts val="0"/>
                        </a:spcBef>
                        <a:spcAft>
                          <a:spcPts val="0"/>
                        </a:spcAft>
                        <a:buNone/>
                      </a:pPr>
                      <a:r>
                        <a:rPr lang="en-US" sz="3200" b="0" i="1" u="none" strike="noStrike" cap="none" dirty="0">
                          <a:solidFill>
                            <a:schemeClr val="lt1"/>
                          </a:solidFill>
                        </a:rPr>
                        <a:t>Academic Year : </a:t>
                      </a:r>
                      <a:r>
                        <a:rPr lang="en-US" sz="3200" b="0" i="1" dirty="0"/>
                        <a:t>2026-2027</a:t>
                      </a:r>
                      <a:endParaRPr sz="3200" b="0" i="1"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17100">
                <a:tc gridSpan="4">
                  <a:txBody>
                    <a:bodyPr/>
                    <a:lstStyle/>
                    <a:p>
                      <a:pPr marL="0" marR="0" lvl="0" indent="0" algn="ctr" rtl="0">
                        <a:spcBef>
                          <a:spcPts val="0"/>
                        </a:spcBef>
                        <a:spcAft>
                          <a:spcPts val="0"/>
                        </a:spcAft>
                        <a:buNone/>
                      </a:pPr>
                      <a:r>
                        <a:rPr lang="en-US" sz="2800" b="1" u="none" strike="noStrike" cap="none">
                          <a:solidFill>
                            <a:srgbClr val="002060"/>
                          </a:solidFill>
                          <a:latin typeface="Times New Roman"/>
                          <a:ea typeface="Times New Roman"/>
                          <a:cs typeface="Times New Roman"/>
                          <a:sym typeface="Times New Roman"/>
                        </a:rPr>
                        <a:t>SEMINAR AND PROJECT INITIATION COURSE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08212">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a:solidFill>
                            <a:srgbClr val="FF0000"/>
                          </a:solidFill>
                        </a:rPr>
                        <a:t>Sem : CO 5 K</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400" b="1" u="none" strike="noStrike" cap="none" dirty="0">
                          <a:solidFill>
                            <a:srgbClr val="002060"/>
                          </a:solidFill>
                          <a:latin typeface="Times New Roman"/>
                          <a:ea typeface="Times New Roman"/>
                          <a:cs typeface="Times New Roman"/>
                          <a:sym typeface="Times New Roman"/>
                        </a:rPr>
                        <a:t>SPI – 315003</a:t>
                      </a:r>
                      <a:endParaRPr sz="18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dirty="0">
                          <a:solidFill>
                            <a:srgbClr val="FF0000"/>
                          </a:solidFill>
                        </a:rPr>
                        <a:t>Date  : 17/10/2026</a:t>
                      </a:r>
                      <a:endParaRPr sz="2100" b="1" u="none" strike="noStrike" cap="none" dirty="0">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8212">
                <a:tc gridSpan="4">
                  <a:txBody>
                    <a:bodyPr/>
                    <a:lstStyle/>
                    <a:p>
                      <a:pPr marL="0" marR="0" lvl="0" indent="0" algn="l" rtl="0">
                        <a:spcBef>
                          <a:spcPts val="0"/>
                        </a:spcBef>
                        <a:spcAft>
                          <a:spcPts val="0"/>
                        </a:spcAft>
                        <a:buNone/>
                      </a:pPr>
                      <a:r>
                        <a:rPr lang="en-US" sz="1800" b="1" u="none" strike="noStrike" cap="none" dirty="0">
                          <a:solidFill>
                            <a:schemeClr val="dk2"/>
                          </a:solidFill>
                        </a:rPr>
                        <a:t>Topic : AI-Based Deepfake Video Detection System</a:t>
                      </a:r>
                      <a:endParaRPr sz="2400" b="1" u="none" strike="noStrike" cap="none" dirty="0">
                        <a:solidFill>
                          <a:srgbClr val="0070C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508212">
                <a:tc gridSpan="2">
                  <a:txBody>
                    <a:bodyPr/>
                    <a:lstStyle/>
                    <a:p>
                      <a:pPr marL="0" marR="0" lvl="0" indent="0" algn="ctr" rtl="0">
                        <a:spcBef>
                          <a:spcPts val="0"/>
                        </a:spcBef>
                        <a:spcAft>
                          <a:spcPts val="0"/>
                        </a:spcAft>
                        <a:buNone/>
                      </a:pPr>
                      <a:r>
                        <a:rPr lang="en-US" sz="2400" b="1" u="none" strike="noStrike" cap="none"/>
                        <a:t>Seat No.</a:t>
                      </a:r>
                      <a:endParaRPr sz="2400" b="1"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400" b="1" u="none" strike="noStrike" cap="none" dirty="0"/>
                        <a:t>Name of Student</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508212">
                <a:tc gridSpan="2">
                  <a:txBody>
                    <a:bodyPr/>
                    <a:lstStyle/>
                    <a:p>
                      <a:pPr marL="0" marR="0" lvl="0" indent="0" algn="ctr" rtl="0">
                        <a:spcBef>
                          <a:spcPts val="0"/>
                        </a:spcBef>
                        <a:spcAft>
                          <a:spcPts val="0"/>
                        </a:spcAft>
                        <a:buNone/>
                      </a:pPr>
                      <a:r>
                        <a:rPr lang="en-US" sz="2400" dirty="0"/>
                        <a:t>388573</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IN" sz="2400" dirty="0"/>
                        <a:t>Shelar Daksh Prashant</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508212">
                <a:tc gridSpan="2">
                  <a:txBody>
                    <a:bodyPr/>
                    <a:lstStyle/>
                    <a:p>
                      <a:pPr marL="0" marR="0" lvl="0" indent="0" algn="ctr" rtl="0">
                        <a:spcBef>
                          <a:spcPts val="0"/>
                        </a:spcBef>
                        <a:spcAft>
                          <a:spcPts val="0"/>
                        </a:spcAft>
                        <a:buNone/>
                      </a:pPr>
                      <a:r>
                        <a:rPr lang="en-US" sz="2400" dirty="0"/>
                        <a:t>388587</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b="0" dirty="0"/>
                        <a:t>Suryawanshi Yuvraj Parikh</a:t>
                      </a:r>
                      <a:endParaRPr sz="2400" b="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508212">
                <a:tc gridSpan="2">
                  <a:txBody>
                    <a:bodyPr/>
                    <a:lstStyle/>
                    <a:p>
                      <a:pPr marL="0" marR="0" lvl="0" indent="0" algn="ctr" rtl="0">
                        <a:spcBef>
                          <a:spcPts val="0"/>
                        </a:spcBef>
                        <a:spcAft>
                          <a:spcPts val="0"/>
                        </a:spcAft>
                        <a:buNone/>
                      </a:pPr>
                      <a:r>
                        <a:rPr lang="en-US" sz="2400" b="0" dirty="0">
                          <a:solidFill>
                            <a:schemeClr val="tx1"/>
                          </a:solidFill>
                        </a:rPr>
                        <a:t>388590</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400" dirty="0"/>
                        <a:t>Badgujar Tushar Jagdish</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81000" y="457200"/>
            <a:ext cx="1219200" cy="16272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514350" lvl="0" indent="-483870" algn="l" rtl="0">
              <a:spcBef>
                <a:spcPts val="0"/>
              </a:spcBef>
              <a:spcAft>
                <a:spcPts val="0"/>
              </a:spcAft>
              <a:buClr>
                <a:schemeClr val="dk1"/>
              </a:buClr>
              <a:buSzPct val="100000"/>
              <a:buChar char="•"/>
            </a:pPr>
            <a:r>
              <a:rPr lang="en-US" dirty="0"/>
              <a:t>Certificate</a:t>
            </a:r>
            <a:endParaRPr dirty="0"/>
          </a:p>
          <a:p>
            <a:pPr marL="514350" lvl="0" indent="-483870" algn="l" rtl="0">
              <a:spcBef>
                <a:spcPts val="496"/>
              </a:spcBef>
              <a:spcAft>
                <a:spcPts val="0"/>
              </a:spcAft>
              <a:buClr>
                <a:schemeClr val="dk1"/>
              </a:buClr>
              <a:buSzPct val="100000"/>
              <a:buChar char="•"/>
            </a:pPr>
            <a:r>
              <a:rPr lang="en-US" dirty="0"/>
              <a:t>Abstract</a:t>
            </a:r>
            <a:endParaRPr dirty="0"/>
          </a:p>
          <a:p>
            <a:pPr marL="514350" lvl="0" indent="-483870" algn="l" rtl="0">
              <a:spcBef>
                <a:spcPts val="496"/>
              </a:spcBef>
              <a:spcAft>
                <a:spcPts val="0"/>
              </a:spcAft>
              <a:buClr>
                <a:schemeClr val="dk1"/>
              </a:buClr>
              <a:buSzPct val="100000"/>
              <a:buFont typeface="Arial"/>
              <a:buAutoNum type="arabicPeriod"/>
            </a:pPr>
            <a:r>
              <a:rPr lang="en-US" dirty="0"/>
              <a:t>Introduction</a:t>
            </a:r>
            <a:endParaRPr dirty="0"/>
          </a:p>
          <a:p>
            <a:pPr marL="514350" lvl="0" indent="-483870" algn="l" rtl="0">
              <a:spcBef>
                <a:spcPts val="496"/>
              </a:spcBef>
              <a:spcAft>
                <a:spcPts val="0"/>
              </a:spcAft>
              <a:buClr>
                <a:schemeClr val="dk1"/>
              </a:buClr>
              <a:buSzPct val="100000"/>
              <a:buFont typeface="Arial"/>
              <a:buAutoNum type="arabicPeriod"/>
            </a:pPr>
            <a:r>
              <a:rPr lang="en-US" dirty="0"/>
              <a:t>Literature Review</a:t>
            </a:r>
            <a:endParaRPr dirty="0"/>
          </a:p>
          <a:p>
            <a:pPr marL="514350" lvl="0" indent="-483870" algn="l" rtl="0">
              <a:spcBef>
                <a:spcPts val="496"/>
              </a:spcBef>
              <a:spcAft>
                <a:spcPts val="0"/>
              </a:spcAft>
              <a:buClr>
                <a:schemeClr val="dk1"/>
              </a:buClr>
              <a:buSzPct val="100000"/>
              <a:buFont typeface="Arial"/>
              <a:buAutoNum type="arabicPeriod"/>
            </a:pPr>
            <a:r>
              <a:rPr lang="en-US" dirty="0"/>
              <a:t>Information to Seminar Topic</a:t>
            </a:r>
            <a:endParaRPr dirty="0"/>
          </a:p>
          <a:p>
            <a:pPr marL="514350" lvl="0" indent="-483870" algn="l" rtl="0">
              <a:spcBef>
                <a:spcPts val="496"/>
              </a:spcBef>
              <a:spcAft>
                <a:spcPts val="0"/>
              </a:spcAft>
              <a:buClr>
                <a:schemeClr val="dk1"/>
              </a:buClr>
              <a:buSzPct val="100000"/>
              <a:buFont typeface="Arial"/>
              <a:buAutoNum type="arabicPeriod"/>
            </a:pPr>
            <a:r>
              <a:rPr lang="en-US" dirty="0"/>
              <a:t>Advantages and Disadvantages</a:t>
            </a:r>
            <a:endParaRPr dirty="0"/>
          </a:p>
          <a:p>
            <a:pPr marL="514350" lvl="0" indent="-483870" algn="l" rtl="0">
              <a:spcBef>
                <a:spcPts val="496"/>
              </a:spcBef>
              <a:spcAft>
                <a:spcPts val="0"/>
              </a:spcAft>
              <a:buClr>
                <a:schemeClr val="dk1"/>
              </a:buClr>
              <a:buSzPct val="100000"/>
              <a:buFont typeface="Arial"/>
              <a:buAutoNum type="arabicPeriod"/>
            </a:pPr>
            <a:r>
              <a:rPr lang="en-US" dirty="0"/>
              <a:t>Conclusion</a:t>
            </a:r>
            <a:endParaRPr dirty="0"/>
          </a:p>
          <a:p>
            <a:pPr marL="514350" lvl="0" indent="-483870" algn="l" rtl="0">
              <a:spcBef>
                <a:spcPts val="496"/>
              </a:spcBef>
              <a:spcAft>
                <a:spcPts val="0"/>
              </a:spcAft>
              <a:buClr>
                <a:schemeClr val="dk1"/>
              </a:buClr>
              <a:buSzPct val="100000"/>
              <a:buFont typeface="Arial"/>
              <a:buAutoNum type="arabicPeriod"/>
            </a:pPr>
            <a:r>
              <a:rPr lang="en-US" dirty="0"/>
              <a:t>Project Initiation :</a:t>
            </a:r>
            <a:endParaRPr dirty="0"/>
          </a:p>
          <a:p>
            <a:pPr marL="742950" lvl="0" indent="0" algn="l" rtl="0">
              <a:spcBef>
                <a:spcPts val="434"/>
              </a:spcBef>
              <a:spcAft>
                <a:spcPts val="0"/>
              </a:spcAft>
              <a:buNone/>
            </a:pPr>
            <a:r>
              <a:rPr lang="en-US" sz="2800" dirty="0"/>
              <a:t>6.1 Description of problem statement</a:t>
            </a:r>
            <a:endParaRPr sz="2800" dirty="0"/>
          </a:p>
          <a:p>
            <a:pPr marL="742950" lvl="0" indent="0" algn="l" rtl="0">
              <a:spcBef>
                <a:spcPts val="434"/>
              </a:spcBef>
              <a:spcAft>
                <a:spcPts val="0"/>
              </a:spcAft>
              <a:buNone/>
            </a:pPr>
            <a:r>
              <a:rPr lang="en-US" sz="2800" dirty="0"/>
              <a:t>6.2 Scope and objectives</a:t>
            </a:r>
            <a:endParaRPr sz="2800" dirty="0"/>
          </a:p>
          <a:p>
            <a:pPr marL="742950" lvl="0" indent="0" algn="l" rtl="0">
              <a:spcBef>
                <a:spcPts val="434"/>
              </a:spcBef>
              <a:spcAft>
                <a:spcPts val="0"/>
              </a:spcAft>
              <a:buNone/>
            </a:pPr>
            <a:r>
              <a:rPr lang="en-US" sz="2800" dirty="0"/>
              <a:t>6.3 Stakeholders</a:t>
            </a:r>
            <a:endParaRPr sz="2800" dirty="0"/>
          </a:p>
          <a:p>
            <a:pPr marL="742950" lvl="0" indent="0" algn="l" rtl="0">
              <a:spcBef>
                <a:spcPts val="434"/>
              </a:spcBef>
              <a:spcAft>
                <a:spcPts val="0"/>
              </a:spcAft>
              <a:buNone/>
            </a:pPr>
            <a:r>
              <a:rPr lang="en-US" sz="2800" dirty="0"/>
              <a:t>6.4 Seminar execution plan</a:t>
            </a:r>
            <a:endParaRPr sz="2800" dirty="0"/>
          </a:p>
          <a:p>
            <a:pPr marL="742950" lvl="0" indent="0" algn="l" rtl="0">
              <a:spcBef>
                <a:spcPts val="434"/>
              </a:spcBef>
              <a:spcAft>
                <a:spcPts val="0"/>
              </a:spcAft>
              <a:buNone/>
            </a:pPr>
            <a:r>
              <a:rPr lang="en-US" sz="2800" dirty="0"/>
              <a:t>6.5 Platform / Equipment / Resources identification</a:t>
            </a:r>
            <a:endParaRPr sz="2800" dirty="0"/>
          </a:p>
          <a:p>
            <a:pPr marL="514350" lvl="0" indent="-483870" algn="l" rtl="0">
              <a:spcBef>
                <a:spcPts val="496"/>
              </a:spcBef>
              <a:spcAft>
                <a:spcPts val="0"/>
              </a:spcAft>
              <a:buClr>
                <a:schemeClr val="dk1"/>
              </a:buClr>
              <a:buSzPct val="100000"/>
              <a:buFont typeface="Arial"/>
              <a:buAutoNum type="arabicPeriod"/>
            </a:pPr>
            <a:r>
              <a:rPr lang="en-US" dirty="0"/>
              <a:t>Bibliography</a:t>
            </a:r>
            <a:endParaRPr dirty="0"/>
          </a:p>
          <a:p>
            <a:pPr marL="514350" lvl="0" indent="-483870" algn="l" rtl="0">
              <a:spcBef>
                <a:spcPts val="496"/>
              </a:spcBef>
              <a:spcAft>
                <a:spcPts val="0"/>
              </a:spcAft>
              <a:buClr>
                <a:schemeClr val="dk1"/>
              </a:buClr>
              <a:buSzPct val="100000"/>
              <a:buFont typeface="Arial"/>
              <a:buAutoNum type="arabicPeriod"/>
            </a:pPr>
            <a:r>
              <a:rPr lang="en-US" dirty="0"/>
              <a:t>References</a:t>
            </a:r>
            <a:endParaRPr dirty="0"/>
          </a:p>
          <a:p>
            <a:pPr marL="342900" lvl="0" indent="-185420" algn="l" rtl="0">
              <a:spcBef>
                <a:spcPts val="496"/>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Contents</a:t>
            </a:r>
            <a:endParaRP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Abstract</a:t>
            </a:r>
            <a:endParaRPr/>
          </a:p>
        </p:txBody>
      </p:sp>
      <p:sp>
        <p:nvSpPr>
          <p:cNvPr id="518" name="Google Shape;518;p15"/>
          <p:cNvSpPr txBox="1">
            <a:spLocks noGrp="1"/>
          </p:cNvSpPr>
          <p:nvPr>
            <p:ph type="body" idx="1"/>
          </p:nvPr>
        </p:nvSpPr>
        <p:spPr>
          <a:xfrm>
            <a:off x="457200" y="1219200"/>
            <a:ext cx="8229600" cy="550225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82800" tIns="45700" rIns="82800" bIns="45700" anchor="t" anchorCtr="0">
            <a:normAutofit/>
          </a:bodyPr>
          <a:lstStyle/>
          <a:p>
            <a:pPr marL="203200" indent="0">
              <a:spcBef>
                <a:spcPts val="0"/>
              </a:spcBef>
              <a:buNone/>
            </a:pPr>
            <a:endParaRPr lang="en-US" sz="1800" dirty="0"/>
          </a:p>
          <a:p>
            <a:pPr marL="72000" lvl="0" indent="-139700" algn="just">
              <a:spcBef>
                <a:spcPts val="0"/>
              </a:spcBef>
              <a:buSzPts val="3200"/>
              <a:buNone/>
            </a:pPr>
            <a:r>
              <a:rPr lang="en-US" sz="1800" b="0" dirty="0"/>
              <a:t>	Deep learning methods such as GANs and autoencoders now make it easy to create realistic fake videos, known as deepfakes, which are misused for misinformation, identity fraud, defamation and harassment and weaken trust in video as evidence [12]. This seminar studies an AI-Based Deepfake Video Detection System that analyses a video and decides whether it is real or fake. The system extracts frames, detects and crops faces, learns spatial features with a CNN (XceptionNet / EfficientNet), captures temporal inconsistencies with an LSTM or transformer, and classifies the video with a confidence score [5], [8]. Twelve research works, public datasets (FaceForensics++, Celeb-DF, DFDC) and evaluation metrics are reviewed [1]–[12], and the project initiation details are presented.</a:t>
            </a:r>
          </a:p>
        </p:txBody>
      </p:sp>
      <p:sp>
        <p:nvSpPr>
          <p:cNvPr id="519" name="Google Shape;519;p15"/>
          <p:cNvSpPr txBox="1">
            <a:spLocks noGrp="1"/>
          </p:cNvSpPr>
          <p:nvPr>
            <p:ph type="sldNum" idx="12"/>
          </p:nvPr>
        </p:nvSpPr>
        <p:spPr>
          <a:xfrm>
            <a:off x="8138100"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347652"/>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1. Introduction</a:t>
            </a:r>
            <a:endParaRPr/>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114300" indent="0" algn="just">
              <a:spcBef>
                <a:spcPts val="0"/>
              </a:spcBef>
              <a:buNone/>
            </a:pPr>
            <a:r>
              <a:rPr lang="en-US" sz="2400" b="1" dirty="0">
                <a:solidFill>
                  <a:schemeClr val="bg2"/>
                </a:solidFill>
              </a:rPr>
              <a:t>What is a deepfake ?</a:t>
            </a:r>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
        <p:nvSpPr>
          <p:cNvPr id="3" name="Text 3">
            <a:extLst>
              <a:ext uri="{FF2B5EF4-FFF2-40B4-BE49-F238E27FC236}">
                <a16:creationId xmlns:a16="http://schemas.microsoft.com/office/drawing/2014/main" id="{976D3B2D-66B4-B646-029C-81AFD927828E}"/>
              </a:ext>
            </a:extLst>
          </p:cNvPr>
          <p:cNvSpPr txBox="1"/>
          <p:nvPr/>
        </p:nvSpPr>
        <p:spPr>
          <a:xfrm>
            <a:off x="709437" y="1882648"/>
            <a:ext cx="3749040" cy="4831452"/>
          </a:xfrm>
          <a:prstGeom prst="rect">
            <a:avLst/>
          </a:prstGeom>
          <a:noFill/>
          <a:ln/>
        </p:spPr>
        <p:txBody>
          <a:bodyPr wrap="square" lIns="45720" tIns="27432" rIns="45720" bIns="27432"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03200" indent="-203200">
              <a:spcAft>
                <a:spcPts val="798"/>
              </a:spcAft>
              <a:buSzPct val="100000"/>
              <a:buChar char="•"/>
            </a:pPr>
            <a:r>
              <a:rPr lang="en-US" sz="2050" dirty="0">
                <a:solidFill>
                  <a:srgbClr val="000000"/>
                </a:solidFill>
                <a:latin typeface="Times New Roman"/>
                <a:ea typeface="Times New Roman"/>
                <a:cs typeface="Times New Roman"/>
              </a:rPr>
              <a:t>Word formed from “deep learning” + “fake”.</a:t>
            </a:r>
            <a:endParaRPr lang="en-US" sz="2053" dirty="0"/>
          </a:p>
          <a:p>
            <a:pPr marL="203200" indent="-203200">
              <a:spcAft>
                <a:spcPts val="798"/>
              </a:spcAft>
              <a:buSzPct val="100000"/>
              <a:buChar char="•"/>
            </a:pPr>
            <a:r>
              <a:rPr lang="en-US" sz="2050" dirty="0">
                <a:solidFill>
                  <a:srgbClr val="000000"/>
                </a:solidFill>
                <a:latin typeface="Times New Roman"/>
                <a:ea typeface="Times New Roman"/>
                <a:cs typeface="Times New Roman"/>
              </a:rPr>
              <a:t>Synthetic media where a person’s likeness is replaced, or made to say and do things they never did.</a:t>
            </a:r>
            <a:endParaRPr lang="en-US" sz="2053" dirty="0"/>
          </a:p>
          <a:p>
            <a:pPr marL="203200" indent="-203200">
              <a:spcAft>
                <a:spcPts val="798"/>
              </a:spcAft>
              <a:buSzPct val="100000"/>
              <a:buChar char="•"/>
            </a:pPr>
            <a:r>
              <a:rPr lang="en-US" sz="2050" dirty="0">
                <a:solidFill>
                  <a:srgbClr val="000000"/>
                </a:solidFill>
                <a:latin typeface="Times New Roman"/>
                <a:ea typeface="Times New Roman"/>
                <a:cs typeface="Times New Roman"/>
              </a:rPr>
              <a:t>Mostly made with autoencoders and GANs.</a:t>
            </a:r>
            <a:endParaRPr lang="en-US" sz="2053" dirty="0"/>
          </a:p>
        </p:txBody>
      </p:sp>
      <p:sp>
        <p:nvSpPr>
          <p:cNvPr id="4" name="Text 5">
            <a:extLst>
              <a:ext uri="{FF2B5EF4-FFF2-40B4-BE49-F238E27FC236}">
                <a16:creationId xmlns:a16="http://schemas.microsoft.com/office/drawing/2014/main" id="{04630F88-EBAF-4910-E4B5-76A46E56DCCB}"/>
              </a:ext>
            </a:extLst>
          </p:cNvPr>
          <p:cNvSpPr txBox="1"/>
          <p:nvPr/>
        </p:nvSpPr>
        <p:spPr>
          <a:xfrm>
            <a:off x="4686551" y="1219200"/>
            <a:ext cx="3908809" cy="566928"/>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01F5F"/>
                </a:solidFill>
                <a:latin typeface="Times New Roman"/>
                <a:ea typeface="Times New Roman"/>
                <a:cs typeface="Times New Roman"/>
              </a:rPr>
              <a:t>Why detection is needed</a:t>
            </a:r>
            <a:endParaRPr lang="en-US" sz="2400" dirty="0"/>
          </a:p>
        </p:txBody>
      </p:sp>
      <p:sp>
        <p:nvSpPr>
          <p:cNvPr id="5" name="Text 6">
            <a:extLst>
              <a:ext uri="{FF2B5EF4-FFF2-40B4-BE49-F238E27FC236}">
                <a16:creationId xmlns:a16="http://schemas.microsoft.com/office/drawing/2014/main" id="{F5DEB8A3-F39D-75B1-FED7-92524BCF39A7}"/>
              </a:ext>
            </a:extLst>
          </p:cNvPr>
          <p:cNvSpPr txBox="1"/>
          <p:nvPr/>
        </p:nvSpPr>
        <p:spPr>
          <a:xfrm>
            <a:off x="4677407" y="1882648"/>
            <a:ext cx="3794760" cy="4394200"/>
          </a:xfrm>
          <a:prstGeom prst="rect">
            <a:avLst/>
          </a:prstGeom>
          <a:noFill/>
          <a:ln/>
        </p:spPr>
        <p:txBody>
          <a:bodyPr wrap="square" lIns="45720" tIns="27432" rIns="45720" bIns="27432"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03200" indent="-203200">
              <a:spcAft>
                <a:spcPts val="798"/>
              </a:spcAft>
              <a:buSzPct val="100000"/>
              <a:buChar char="•"/>
            </a:pPr>
            <a:r>
              <a:rPr lang="en-US" sz="2050" dirty="0">
                <a:solidFill>
                  <a:srgbClr val="000000"/>
                </a:solidFill>
                <a:latin typeface="Times New Roman"/>
                <a:ea typeface="Times New Roman"/>
                <a:cs typeface="Times New Roman"/>
              </a:rPr>
              <a:t>Can influence elections, cause panic, enable fraud or damage reputations.</a:t>
            </a:r>
            <a:endParaRPr lang="en-US" sz="2053" dirty="0"/>
          </a:p>
          <a:p>
            <a:pPr marL="203200" indent="-203200">
              <a:spcAft>
                <a:spcPts val="798"/>
              </a:spcAft>
              <a:buSzPct val="100000"/>
              <a:buChar char="•"/>
            </a:pPr>
            <a:r>
              <a:rPr lang="en-US" sz="2050" dirty="0">
                <a:solidFill>
                  <a:srgbClr val="000000"/>
                </a:solidFill>
                <a:latin typeface="Times New Roman"/>
                <a:ea typeface="Times New Roman"/>
                <a:cs typeface="Times New Roman"/>
              </a:rPr>
              <a:t>Humans cannot reliably spot good deepfakes.</a:t>
            </a:r>
            <a:endParaRPr lang="en-US" sz="2053" dirty="0"/>
          </a:p>
          <a:p>
            <a:pPr marL="203200" indent="-203200">
              <a:spcAft>
                <a:spcPts val="798"/>
              </a:spcAft>
              <a:buSzPct val="100000"/>
              <a:buChar char="•"/>
            </a:pPr>
            <a:r>
              <a:rPr lang="en-US" sz="2050" dirty="0">
                <a:solidFill>
                  <a:srgbClr val="000000"/>
                </a:solidFill>
                <a:latin typeface="Times New Roman"/>
                <a:ea typeface="Times New Roman"/>
                <a:cs typeface="Times New Roman"/>
              </a:rPr>
              <a:t>Manual checks are slow; AI detection helps journalists, platforms and agencies.</a:t>
            </a:r>
            <a:endParaRPr lang="en-US" sz="2053" dirty="0"/>
          </a:p>
        </p:txBody>
      </p:sp>
      <p:sp>
        <p:nvSpPr>
          <p:cNvPr id="6" name="Slide Number Placeholder 0">
            <a:extLst>
              <a:ext uri="{FF2B5EF4-FFF2-40B4-BE49-F238E27FC236}">
                <a16:creationId xmlns:a16="http://schemas.microsoft.com/office/drawing/2014/main" id="{5A24B9E5-4B8F-CCFE-3E01-2F363D3C2201}"/>
              </a:ext>
            </a:extLst>
          </p:cNvPr>
          <p:cNvSpPr>
            <a:spLocks noGrp="1"/>
          </p:cNvSpPr>
          <p:nvPr/>
        </p:nvSpPr>
        <p:spPr>
          <a:xfrm>
            <a:off x="8229600" y="6239256"/>
            <a:ext cx="457200" cy="310896"/>
          </a:xfrm>
          <a:prstGeom prst="rect">
            <a:avLst/>
          </a:prstGeom>
          <a:extLst>
            <a:ext uri="{C572A759-6A51-4108-AA02-DFA0A04FC94B}">
              <ma14:wrappingTextBoxFlag xmlns:lc="http://schemas.openxmlformats.org/drawingml/2006/lockedCanvas" xmlns:ma14="http://schemas.microsoft.com/office/mac/drawingml/2011/main" xmlns="" val="0"/>
            </a:ext>
          </a:extLst>
        </p:spPr>
        <p:txBody>
          <a:bodyPr anchor="ctr"/>
          <a:lstStyle>
            <a:lvl1pPr marL="0" algn="l" defTabSz="914400" rtl="0" eaLnBrk="1" latinLnBrk="0" hangingPunct="1">
              <a:defRPr sz="1200" kern="1200">
                <a:solidFill>
                  <a:srgbClr val="878787"/>
                </a:solidFill>
                <a:latin typeface="Times New Roman"/>
                <a:ea typeface="Times New Roman"/>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7021451-1387-4CA6-816F-3879F97B5CBC}" type="slidenum">
              <a:rPr lang="en-US" b="0"/>
              <a:pPr algn="ctr"/>
              <a:t>4</a:t>
            </a:fld>
            <a:endParaRPr lang="en-US"/>
          </a:p>
        </p:txBody>
      </p:sp>
      <p:cxnSp>
        <p:nvCxnSpPr>
          <p:cNvPr id="7" name="Connector 25">
            <a:extLst>
              <a:ext uri="{FF2B5EF4-FFF2-40B4-BE49-F238E27FC236}">
                <a16:creationId xmlns:a16="http://schemas.microsoft.com/office/drawing/2014/main" id="{FC8B4F79-87AF-8E99-ECC9-B8414141147A}"/>
              </a:ext>
            </a:extLst>
          </p:cNvPr>
          <p:cNvCxnSpPr/>
          <p:nvPr/>
        </p:nvCxnSpPr>
        <p:spPr>
          <a:xfrm>
            <a:off x="457200" y="1786128"/>
            <a:ext cx="8229600" cy="0"/>
          </a:xfrm>
          <a:prstGeom prst="line">
            <a:avLst/>
          </a:prstGeom>
          <a:ln w="19050">
            <a:solidFill>
              <a:srgbClr val="4E80BC"/>
            </a:solidFill>
          </a:ln>
        </p:spPr>
        <p:style>
          <a:lnRef idx="2">
            <a:schemeClr val="accent1"/>
          </a:lnRef>
          <a:fillRef idx="0">
            <a:schemeClr val="accent1"/>
          </a:fillRef>
          <a:effectRef idx="1">
            <a:schemeClr val="accent1"/>
          </a:effectRef>
          <a:fontRef idx="minor">
            <a:schemeClr val="tx1"/>
          </a:fontRef>
        </p:style>
      </p:cxnSp>
      <p:cxnSp>
        <p:nvCxnSpPr>
          <p:cNvPr id="8" name="Connector 26">
            <a:extLst>
              <a:ext uri="{FF2B5EF4-FFF2-40B4-BE49-F238E27FC236}">
                <a16:creationId xmlns:a16="http://schemas.microsoft.com/office/drawing/2014/main" id="{747709E4-D2B8-5858-8422-873AF2682BEF}"/>
              </a:ext>
            </a:extLst>
          </p:cNvPr>
          <p:cNvCxnSpPr/>
          <p:nvPr/>
        </p:nvCxnSpPr>
        <p:spPr>
          <a:xfrm>
            <a:off x="4549391" y="1219200"/>
            <a:ext cx="0" cy="5330952"/>
          </a:xfrm>
          <a:prstGeom prst="line">
            <a:avLst/>
          </a:prstGeom>
          <a:ln w="19050">
            <a:solidFill>
              <a:srgbClr val="4E80B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2. Literature Survey</a:t>
            </a:r>
            <a:endParaRP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595300" y="6464202"/>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pic>
        <p:nvPicPr>
          <p:cNvPr id="2" name="table">
            <a:extLst>
              <a:ext uri="{FF2B5EF4-FFF2-40B4-BE49-F238E27FC236}">
                <a16:creationId xmlns:a16="http://schemas.microsoft.com/office/drawing/2014/main" id="{E8964F6F-C562-367F-D088-E7BF2EC14E27}"/>
              </a:ext>
            </a:extLst>
          </p:cNvPr>
          <p:cNvPicPr>
            <a:picLocks noChangeAspect="1"/>
          </p:cNvPicPr>
          <p:nvPr/>
        </p:nvPicPr>
        <p:blipFill>
          <a:blip r:embed="rId3"/>
          <a:stretch>
            <a:fillRect/>
          </a:stretch>
        </p:blipFill>
        <p:spPr>
          <a:xfrm>
            <a:off x="183872" y="1143138"/>
            <a:ext cx="8502928" cy="55162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24B866-080A-1F9C-0A49-0D10F6EE19B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pic>
        <p:nvPicPr>
          <p:cNvPr id="7" name="table">
            <a:extLst>
              <a:ext uri="{FF2B5EF4-FFF2-40B4-BE49-F238E27FC236}">
                <a16:creationId xmlns:a16="http://schemas.microsoft.com/office/drawing/2014/main" id="{86350C7A-85FA-E025-E8C0-77853496AB27}"/>
              </a:ext>
            </a:extLst>
          </p:cNvPr>
          <p:cNvPicPr>
            <a:picLocks noChangeAspect="1"/>
          </p:cNvPicPr>
          <p:nvPr/>
        </p:nvPicPr>
        <p:blipFill>
          <a:blip r:embed="rId2"/>
          <a:stretch>
            <a:fillRect/>
          </a:stretch>
        </p:blipFill>
        <p:spPr>
          <a:xfrm>
            <a:off x="506978" y="665746"/>
            <a:ext cx="8128000" cy="5334001"/>
          </a:xfrm>
          <a:prstGeom prst="rect">
            <a:avLst/>
          </a:prstGeom>
        </p:spPr>
      </p:pic>
    </p:spTree>
    <p:extLst>
      <p:ext uri="{BB962C8B-B14F-4D97-AF65-F5344CB8AC3E}">
        <p14:creationId xmlns:p14="http://schemas.microsoft.com/office/powerpoint/2010/main" val="3939053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3. Information to seminar topic</a:t>
            </a:r>
            <a:endParaRP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900" dirty="0"/>
          </a:p>
          <a:p>
            <a:pPr marL="546100" algn="just">
              <a:spcBef>
                <a:spcPts val="0"/>
              </a:spcBef>
              <a:buSzPct val="100000"/>
            </a:pPr>
            <a:r>
              <a:rPr lang="en-US" sz="1900" b="1" dirty="0"/>
              <a:t>Technology : </a:t>
            </a:r>
            <a:r>
              <a:rPr lang="en-US" sz="1900" b="0" dirty="0"/>
              <a:t>Deep Learning (CNN, LSTM / Transformer) and Computer Vision [12]</a:t>
            </a:r>
          </a:p>
          <a:p>
            <a:pPr marL="203200" indent="0">
              <a:spcBef>
                <a:spcPts val="0"/>
              </a:spcBef>
              <a:buNone/>
            </a:pPr>
            <a:endParaRPr lang="en-US" sz="1900" dirty="0"/>
          </a:p>
          <a:p>
            <a:pPr marL="546100" algn="just">
              <a:spcBef>
                <a:spcPts val="0"/>
              </a:spcBef>
              <a:buSzPct val="100000"/>
            </a:pPr>
            <a:r>
              <a:rPr lang="en-US" sz="1900" b="1" dirty="0"/>
              <a:t>Main purpose : </a:t>
            </a:r>
            <a:r>
              <a:rPr lang="en-US" sz="1900" b="0" dirty="0"/>
              <a:t>To automatically decide whether a video is real or fake [12]</a:t>
            </a:r>
          </a:p>
          <a:p>
            <a:pPr marL="203200" indent="0">
              <a:spcBef>
                <a:spcPts val="0"/>
              </a:spcBef>
              <a:buNone/>
            </a:pPr>
            <a:endParaRPr lang="en-US" sz="1900" dirty="0"/>
          </a:p>
          <a:p>
            <a:pPr marL="546100" algn="just">
              <a:spcBef>
                <a:spcPts val="0"/>
              </a:spcBef>
              <a:buSzPct val="100000"/>
            </a:pPr>
            <a:r>
              <a:rPr lang="en-US" sz="1900" b="1" dirty="0"/>
              <a:t>Key concept : </a:t>
            </a:r>
            <a:r>
              <a:rPr lang="en-US" sz="1900" b="0" dirty="0"/>
              <a:t>Detectors find traces of manipulation such as blending edges, odd blinking and frame flicker [6], [7]</a:t>
            </a:r>
          </a:p>
          <a:p>
            <a:pPr marL="203200" indent="0">
              <a:spcBef>
                <a:spcPts val="0"/>
              </a:spcBef>
              <a:buNone/>
            </a:pPr>
            <a:endParaRPr lang="en-US" sz="1900" dirty="0"/>
          </a:p>
          <a:p>
            <a:pPr marL="546100" algn="just">
              <a:spcBef>
                <a:spcPts val="0"/>
              </a:spcBef>
              <a:buSzPct val="100000"/>
            </a:pPr>
            <a:r>
              <a:rPr lang="en-US" sz="1900" b="1" dirty="0"/>
              <a:t>Approach : </a:t>
            </a:r>
            <a:r>
              <a:rPr lang="en-US" sz="1900" b="0" dirty="0"/>
              <a:t>Frames → MTCNN face crop → CNN features → LSTM / transformer → real / fake score [5], [8]</a:t>
            </a:r>
          </a:p>
          <a:p>
            <a:pPr marL="203200" indent="0">
              <a:spcBef>
                <a:spcPts val="0"/>
              </a:spcBef>
              <a:buNone/>
            </a:pPr>
            <a:endParaRPr lang="en-US" sz="1900" dirty="0"/>
          </a:p>
          <a:p>
            <a:pPr marL="546100" algn="just">
              <a:spcBef>
                <a:spcPts val="0"/>
              </a:spcBef>
              <a:buSzPct val="100000"/>
            </a:pPr>
            <a:r>
              <a:rPr lang="en-US" sz="1900" b="1" dirty="0"/>
              <a:t>Main benefit : </a:t>
            </a:r>
            <a:r>
              <a:rPr lang="en-US" sz="1900" b="0" dirty="0"/>
              <a:t>Fast, scalable verification with a confidence score [1], [3]</a:t>
            </a:r>
          </a:p>
          <a:p>
            <a:pPr marL="203200" indent="0">
              <a:spcBef>
                <a:spcPts val="0"/>
              </a:spcBef>
              <a:buNone/>
            </a:pPr>
            <a:endParaRPr lang="en-US" sz="1900" dirty="0"/>
          </a:p>
          <a:p>
            <a:pPr marL="546100" algn="just">
              <a:spcBef>
                <a:spcPts val="0"/>
              </a:spcBef>
              <a:buSzPct val="100000"/>
            </a:pPr>
            <a:r>
              <a:rPr lang="en-US" sz="1900" b="1" dirty="0"/>
              <a:t>Application : </a:t>
            </a:r>
            <a:r>
              <a:rPr lang="en-US" sz="1900" b="0" dirty="0"/>
              <a:t>Social media, news and fact-checking, law enforcement, banks (video KYC) [3], [12]</a:t>
            </a: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4. Advantages / Disadvantages</a:t>
            </a:r>
            <a:endParaRPr/>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114300" indent="0">
              <a:spcBef>
                <a:spcPts val="0"/>
              </a:spcBef>
              <a:buNone/>
            </a:pPr>
            <a:r>
              <a:rPr lang="en-US" sz="2100" b="1" dirty="0"/>
              <a:t>Advantages</a:t>
            </a:r>
          </a:p>
          <a:p>
            <a:pPr algn="just">
              <a:spcBef>
                <a:spcPts val="0"/>
              </a:spcBef>
            </a:pPr>
            <a:r>
              <a:rPr lang="en-US" sz="2000" b="0" dirty="0"/>
              <a:t>Fast, automatic screening of many videos </a:t>
            </a:r>
          </a:p>
          <a:p>
            <a:pPr algn="just">
              <a:spcBef>
                <a:spcPts val="0"/>
              </a:spcBef>
            </a:pPr>
            <a:r>
              <a:rPr lang="en-US" sz="2000" b="0" dirty="0"/>
              <a:t>Learns subtle artifacts that humans cannot see </a:t>
            </a:r>
          </a:p>
          <a:p>
            <a:pPr algn="just">
              <a:spcBef>
                <a:spcPts val="0"/>
              </a:spcBef>
            </a:pPr>
            <a:r>
              <a:rPr lang="en-US" sz="2000" b="0" dirty="0"/>
              <a:t>Uses both spatial (frame) and temporal (sequence) evidence </a:t>
            </a:r>
          </a:p>
          <a:p>
            <a:pPr algn="just">
              <a:spcBef>
                <a:spcPts val="0"/>
              </a:spcBef>
            </a:pPr>
            <a:r>
              <a:rPr lang="en-US" sz="2000" b="0" dirty="0"/>
              <a:t>Helps journalists, platforms and investigators trust video </a:t>
            </a:r>
          </a:p>
          <a:p>
            <a:pPr algn="just">
              <a:spcBef>
                <a:spcPts val="0"/>
              </a:spcBef>
            </a:pPr>
            <a:r>
              <a:rPr lang="en-US" sz="2000" b="0" dirty="0"/>
              <a:t>Can be retrained as new deepfake methods appear </a:t>
            </a:r>
          </a:p>
          <a:p>
            <a:pPr marL="203200" indent="0">
              <a:spcBef>
                <a:spcPts val="0"/>
              </a:spcBef>
              <a:buNone/>
            </a:pPr>
            <a:endParaRPr lang="en-US" sz="2000" dirty="0"/>
          </a:p>
          <a:p>
            <a:pPr marL="114300" indent="0">
              <a:spcBef>
                <a:spcPts val="0"/>
              </a:spcBef>
              <a:buNone/>
            </a:pPr>
            <a:r>
              <a:rPr lang="en-US" sz="2100" b="1" dirty="0"/>
              <a:t>Disadvantages</a:t>
            </a:r>
          </a:p>
          <a:p>
            <a:pPr algn="just">
              <a:spcBef>
                <a:spcPts val="0"/>
              </a:spcBef>
            </a:pPr>
            <a:r>
              <a:rPr lang="en-US" sz="2000" b="0" dirty="0"/>
              <a:t>Poor generalisation to unseen methods and datasets </a:t>
            </a:r>
          </a:p>
          <a:p>
            <a:pPr algn="just">
              <a:spcBef>
                <a:spcPts val="0"/>
              </a:spcBef>
            </a:pPr>
            <a:r>
              <a:rPr lang="en-US" sz="2000" b="0" dirty="0"/>
              <a:t>Needs large datasets and high computing power </a:t>
            </a:r>
          </a:p>
          <a:p>
            <a:pPr algn="just">
              <a:spcBef>
                <a:spcPts val="0"/>
              </a:spcBef>
            </a:pPr>
            <a:r>
              <a:rPr lang="en-US" sz="2000" b="0" dirty="0"/>
              <a:t>Compression and low quality hide artifacts </a:t>
            </a:r>
          </a:p>
          <a:p>
            <a:pPr algn="just">
              <a:spcBef>
                <a:spcPts val="0"/>
              </a:spcBef>
            </a:pPr>
            <a:r>
              <a:rPr lang="en-US" sz="2000" b="0" dirty="0"/>
              <a:t>False results can harm people or reduce </a:t>
            </a:r>
            <a:r>
              <a:rPr lang="en-US" sz="2000" b="0"/>
              <a:t>trust </a:t>
            </a:r>
            <a:endParaRPr lang="en-US" sz="2000" b="0" dirty="0"/>
          </a:p>
          <a:p>
            <a:pPr algn="just">
              <a:spcBef>
                <a:spcPts val="0"/>
              </a:spcBef>
            </a:pPr>
            <a:r>
              <a:rPr lang="en-US" sz="2000" b="0" dirty="0"/>
              <a:t>Constant race between generators and detectors </a:t>
            </a:r>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5. Conclusion</a:t>
            </a:r>
            <a:endParaRP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800" dirty="0"/>
          </a:p>
          <a:p>
            <a:pPr marL="72000" lvl="0" indent="-139700" algn="just">
              <a:spcBef>
                <a:spcPts val="0"/>
              </a:spcBef>
              <a:buSzPts val="3200"/>
              <a:buNone/>
            </a:pPr>
            <a:r>
              <a:rPr lang="en-US" sz="1800" b="0" dirty="0"/>
              <a:t>	Deepfakes made with GANs and autoencoders are now realistic enough to deceive viewers and threaten politics, finance, privacy and public trust [12]. An AI-based detection system gives an automatic, scalable way to verify videos by studying each frame and how frames change over time [5], [8]. Modern detectors perform well on known datasets, but generalisation to new methods and robustness to compression remain open challenges [2], [9]. Detection is therefore a continuously evolving process that needs good datasets, regular retraining and responsible use.</a:t>
            </a:r>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pic>
        <p:nvPicPr>
          <p:cNvPr id="555" name="Picture 554" descr="f2.png"/>
          <p:cNvPicPr>
            <a:picLocks noChangeAspect="1"/>
          </p:cNvPicPr>
          <p:nvPr/>
        </p:nvPicPr>
        <p:blipFill>
          <a:blip r:embed="rId3"/>
          <a:stretch>
            <a:fillRect/>
          </a:stretch>
        </p:blipFill>
        <p:spPr>
          <a:xfrm>
            <a:off x="1402080" y="4482802"/>
            <a:ext cx="6096000" cy="739226"/>
          </a:xfrm>
          <a:prstGeom prst="rect">
            <a:avLst/>
          </a:prstGeom>
        </p:spPr>
      </p:pic>
      <p:sp>
        <p:nvSpPr>
          <p:cNvPr id="556" name="TextBox 555"/>
          <p:cNvSpPr txBox="1"/>
          <p:nvPr/>
        </p:nvSpPr>
        <p:spPr>
          <a:xfrm>
            <a:off x="548640" y="5458592"/>
            <a:ext cx="8046720" cy="292608"/>
          </a:xfrm>
          <a:prstGeom prst="rect">
            <a:avLst/>
          </a:prstGeom>
          <a:noFill/>
        </p:spPr>
        <p:txBody>
          <a:bodyPr wrap="none" tIns="0" bIns="0">
            <a:spAutoFit/>
          </a:bodyPr>
          <a:lstStyle/>
          <a:p>
            <a:pPr algn="ctr"/>
            <a:r>
              <a:rPr sz="1300" i="1">
                <a:latin typeface="Times New Roman"/>
              </a:rPr>
              <a:t>Fig 2: Deepfake threat + AI detection (spatial + temporal) = Trusted video [5], [8],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6. Project Initiation</a:t>
            </a:r>
            <a:endParaRPr dirty="0"/>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800" dirty="0"/>
          </a:p>
          <a:p>
            <a:pPr marL="72000" lvl="0" indent="-139700" algn="just">
              <a:spcBef>
                <a:spcPts val="0"/>
              </a:spcBef>
              <a:buSzPts val="3200"/>
              <a:buNone/>
            </a:pPr>
            <a:r>
              <a:rPr lang="en-US" sz="1800" b="0" dirty="0"/>
              <a:t>	The AI-Based Deepfake Video Detection project was initiated because anyone can now create convincing fake videos at low cost, and these spread quickly on social media to cause misinformation, fraud and defamation [3], [12]. Human viewers cannot reliably spot good deepfakes and manual forensic checking is too slow [3], [12].</a:t>
            </a:r>
          </a:p>
          <a:p>
            <a:pPr marL="203200" indent="0">
              <a:spcBef>
                <a:spcPts val="0"/>
              </a:spcBef>
              <a:buNone/>
            </a:pPr>
            <a:endParaRPr lang="en-US" sz="1800" dirty="0"/>
          </a:p>
          <a:p>
            <a:pPr marL="72000" lvl="0" indent="-139700" algn="just">
              <a:spcBef>
                <a:spcPts val="0"/>
              </a:spcBef>
              <a:buSzPts val="3200"/>
              <a:buNone/>
            </a:pPr>
            <a:r>
              <a:rPr lang="en-US" sz="1800" b="0" dirty="0"/>
              <a:t>	The project aims to build a system that extracts frames, detects faces with MTCNN, learns features with a CNN, analyses temporal behaviour with an LSTM / transformer and classifies the video as real or fake with a confidence score [5], [8].</a:t>
            </a:r>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6178" y="304800"/>
            <a:ext cx="8229600" cy="104502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ct val="100000"/>
              <a:buFont typeface="Arial"/>
              <a:buNone/>
            </a:pPr>
            <a:r>
              <a:rPr lang="en-US" sz="3200" dirty="0"/>
              <a:t>6.1 Description of Problem Statement</a:t>
            </a:r>
          </a:p>
        </p:txBody>
      </p:sp>
      <p:sp>
        <p:nvSpPr>
          <p:cNvPr id="567" name="Google Shape;567;p22"/>
          <p:cNvSpPr txBox="1">
            <a:spLocks noGrp="1"/>
          </p:cNvSpPr>
          <p:nvPr>
            <p:ph type="body" idx="1"/>
          </p:nvPr>
        </p:nvSpPr>
        <p:spPr>
          <a:xfrm>
            <a:off x="457200" y="1524000"/>
            <a:ext cx="8229600" cy="502919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800" dirty="0"/>
          </a:p>
          <a:p>
            <a:pPr marL="0" indent="0" algn="just">
              <a:spcBef>
                <a:spcPts val="0"/>
              </a:spcBef>
              <a:spcAft>
                <a:spcPts val="600"/>
              </a:spcAft>
              <a:buNone/>
            </a:pPr>
            <a:r>
              <a:rPr lang="en-US" sz="1800" b="0" dirty="0"/>
              <a:t>Deepfake videos are easy and cheap to create and spread widely on social media before they are noticed [12].</a:t>
            </a:r>
          </a:p>
          <a:p>
            <a:pPr marL="0" indent="0" algn="just">
              <a:spcBef>
                <a:spcPts val="0"/>
              </a:spcBef>
              <a:spcAft>
                <a:spcPts val="600"/>
              </a:spcAft>
              <a:buNone/>
            </a:pPr>
            <a:r>
              <a:rPr lang="en-US" sz="1800" b="0" dirty="0"/>
              <a:t>Human viewers and manual forensic checks cannot keep up with high-quality fakes [3].</a:t>
            </a:r>
          </a:p>
          <a:p>
            <a:pPr marL="0" indent="0" algn="just">
              <a:spcBef>
                <a:spcPts val="0"/>
              </a:spcBef>
              <a:spcAft>
                <a:spcPts val="600"/>
              </a:spcAft>
              <a:buNone/>
            </a:pPr>
            <a:r>
              <a:rPr lang="en-US" sz="1800" b="0" dirty="0"/>
              <a:t>Existing detectors work well only on trained datasets and fail on compressed or new fakes [2], [9]. A system using spatial and temporal evidence is needed [5], [8].</a:t>
            </a:r>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pic>
        <p:nvPicPr>
          <p:cNvPr id="569" name="Picture 568" descr="f3.png"/>
          <p:cNvPicPr>
            <a:picLocks noChangeAspect="1"/>
          </p:cNvPicPr>
          <p:nvPr/>
        </p:nvPicPr>
        <p:blipFill>
          <a:blip r:embed="rId3"/>
          <a:stretch>
            <a:fillRect/>
          </a:stretch>
        </p:blipFill>
        <p:spPr>
          <a:xfrm>
            <a:off x="1720610" y="3677084"/>
            <a:ext cx="5427407" cy="1847256"/>
          </a:xfrm>
          <a:prstGeom prst="rect">
            <a:avLst/>
          </a:prstGeom>
        </p:spPr>
      </p:pic>
      <p:sp>
        <p:nvSpPr>
          <p:cNvPr id="570" name="TextBox 569"/>
          <p:cNvSpPr txBox="1"/>
          <p:nvPr/>
        </p:nvSpPr>
        <p:spPr>
          <a:xfrm>
            <a:off x="548640" y="6050036"/>
            <a:ext cx="8046720" cy="292608"/>
          </a:xfrm>
          <a:prstGeom prst="rect">
            <a:avLst/>
          </a:prstGeom>
          <a:noFill/>
        </p:spPr>
        <p:txBody>
          <a:bodyPr wrap="none" tIns="0" bIns="0">
            <a:spAutoFit/>
          </a:bodyPr>
          <a:lstStyle/>
          <a:p>
            <a:pPr algn="ctr"/>
            <a:r>
              <a:rPr sz="1300" i="1">
                <a:latin typeface="Times New Roman"/>
              </a:rPr>
              <a:t>Fig 3: Problems caused by deepfake videos [3],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ct val="100000"/>
              <a:buFont typeface="Arial"/>
              <a:buNone/>
            </a:pPr>
            <a:r>
              <a:rPr lang="en-US" sz="3200" dirty="0"/>
              <a:t>6.2 Scope and Objectives</a:t>
            </a:r>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sz="1800" b="1" dirty="0"/>
              <a:t>Objectives</a:t>
            </a:r>
          </a:p>
          <a:p>
            <a:pPr marL="488950" indent="-285750" algn="just">
              <a:spcBef>
                <a:spcPts val="0"/>
              </a:spcBef>
              <a:buSzPct val="100000"/>
            </a:pPr>
            <a:r>
              <a:rPr lang="en-US" sz="1800" b="0" dirty="0"/>
              <a:t>Study how deepfakes are created and the artifacts they leave [12].</a:t>
            </a:r>
          </a:p>
          <a:p>
            <a:pPr marL="488950" indent="-285750" algn="just">
              <a:spcBef>
                <a:spcPts val="0"/>
              </a:spcBef>
              <a:buSzPct val="100000"/>
            </a:pPr>
            <a:r>
              <a:rPr lang="en-US" sz="1800" b="0" dirty="0"/>
              <a:t>Review existing research on deepfake video detection [1]–[12].</a:t>
            </a:r>
          </a:p>
          <a:p>
            <a:pPr marL="488950" indent="-285750" algn="just">
              <a:spcBef>
                <a:spcPts val="0"/>
              </a:spcBef>
              <a:buSzPct val="100000"/>
            </a:pPr>
            <a:r>
              <a:rPr lang="en-US" sz="1800" b="0" dirty="0"/>
              <a:t>Build a pipeline for frame extraction, face detection and pre-processing [5].</a:t>
            </a:r>
          </a:p>
          <a:p>
            <a:pPr marL="488950" indent="-285750" algn="just">
              <a:spcBef>
                <a:spcPts val="0"/>
              </a:spcBef>
              <a:buSzPct val="100000"/>
            </a:pPr>
            <a:r>
              <a:rPr lang="en-US" sz="1800" b="0" dirty="0"/>
              <a:t>Classify a video as real or fake using CNN and LSTM / transformer [5], [8].</a:t>
            </a:r>
          </a:p>
          <a:p>
            <a:pPr marL="488950" indent="-285750" algn="just">
              <a:spcBef>
                <a:spcPts val="0"/>
              </a:spcBef>
              <a:buSzPct val="100000"/>
            </a:pPr>
            <a:r>
              <a:rPr lang="en-US" sz="1800" b="0" dirty="0"/>
              <a:t>Evaluate with accuracy, precision, recall, F1-score and AUC [1], [3].</a:t>
            </a:r>
          </a:p>
          <a:p>
            <a:pPr marL="488950" indent="-285750" algn="just">
              <a:spcBef>
                <a:spcPts val="0"/>
              </a:spcBef>
              <a:buSzPct val="100000"/>
            </a:pPr>
            <a:r>
              <a:rPr lang="en-US" sz="1800" b="0" dirty="0"/>
              <a:t>Show the label and confidence score in a simple form to the user.</a:t>
            </a:r>
          </a:p>
          <a:p>
            <a:pPr marL="203200" indent="0" algn="just">
              <a:spcBef>
                <a:spcPts val="0"/>
              </a:spcBef>
              <a:buNone/>
            </a:pPr>
            <a:endParaRPr lang="en-US" sz="1800" dirty="0"/>
          </a:p>
          <a:p>
            <a:pPr marL="342900" lvl="0" indent="-139700" algn="just">
              <a:spcBef>
                <a:spcPts val="0"/>
              </a:spcBef>
              <a:buSzPts val="3200"/>
              <a:buNone/>
            </a:pPr>
            <a:r>
              <a:rPr lang="en-US" sz="1800" b="1" dirty="0"/>
              <a:t>Scope</a:t>
            </a:r>
          </a:p>
          <a:p>
            <a:pPr marL="488950" indent="-285750" algn="just">
              <a:spcBef>
                <a:spcPts val="0"/>
              </a:spcBef>
              <a:buSzPct val="100000"/>
            </a:pPr>
            <a:r>
              <a:rPr lang="en-US" sz="1800" b="0" dirty="0"/>
              <a:t>Detects face-based deepfake videos; prototype on public datasets [1]–[3].</a:t>
            </a:r>
          </a:p>
          <a:p>
            <a:pPr marL="488950" indent="-285750" algn="just">
              <a:spcBef>
                <a:spcPts val="0"/>
              </a:spcBef>
              <a:buSzPct val="100000"/>
            </a:pPr>
            <a:r>
              <a:rPr lang="en-US" sz="1800" b="0" dirty="0"/>
              <a:t>Uses Python, PyTorch / TensorFlow, OpenCV and MTCNN [5].</a:t>
            </a:r>
          </a:p>
          <a:p>
            <a:pPr marL="488950" indent="-285750" algn="just">
              <a:spcBef>
                <a:spcPts val="0"/>
              </a:spcBef>
              <a:buSzPct val="100000"/>
            </a:pPr>
            <a:r>
              <a:rPr lang="en-US" sz="1800" b="0" dirty="0"/>
              <a:t>Audio-only deepfakes and live-broadcast detection are out of scope.</a:t>
            </a:r>
          </a:p>
          <a:p>
            <a:pPr marL="488950" indent="-285750" algn="just">
              <a:spcBef>
                <a:spcPts val="0"/>
              </a:spcBef>
              <a:buSzPct val="100000"/>
            </a:pPr>
            <a:r>
              <a:rPr lang="en-US" sz="1800" b="0" dirty="0"/>
              <a:t>Helps users, platforms and investigators verify videos [12].</a:t>
            </a:r>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600"/>
              <a:buFont typeface="Arial"/>
              <a:buNone/>
            </a:pPr>
            <a:r>
              <a:rPr lang="en-US" sz="3200" dirty="0"/>
              <a:t>6.3 Stakeholders</a:t>
            </a:r>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88950" indent="-285750">
              <a:spcBef>
                <a:spcPts val="0"/>
              </a:spcBef>
              <a:buSzPct val="100000"/>
            </a:pPr>
            <a:r>
              <a:rPr lang="en-US" sz="1800" b="1" dirty="0"/>
              <a:t>End Users / General Public: </a:t>
            </a:r>
            <a:r>
              <a:rPr lang="en-US" sz="1800" b="0" dirty="0"/>
              <a:t>Upload videos to check real or fake and avoid misinformation [12].</a:t>
            </a:r>
          </a:p>
          <a:p>
            <a:pPr marL="203200" indent="0">
              <a:spcBef>
                <a:spcPts val="0"/>
              </a:spcBef>
              <a:buNone/>
            </a:pPr>
            <a:endParaRPr lang="en-US" sz="1800" dirty="0"/>
          </a:p>
          <a:p>
            <a:pPr marL="488950" indent="-285750">
              <a:spcBef>
                <a:spcPts val="0"/>
              </a:spcBef>
              <a:buSzPct val="100000"/>
            </a:pPr>
            <a:r>
              <a:rPr lang="en-US" sz="1800" b="1" dirty="0"/>
              <a:t>Social Media Platforms / Media Houses: </a:t>
            </a:r>
            <a:r>
              <a:rPr lang="en-US" sz="1800" b="0" dirty="0"/>
              <a:t>Flag fake videos and verify content before sharing [3].</a:t>
            </a:r>
          </a:p>
          <a:p>
            <a:pPr marL="203200" indent="0">
              <a:spcBef>
                <a:spcPts val="0"/>
              </a:spcBef>
              <a:buNone/>
            </a:pPr>
            <a:endParaRPr lang="en-US" sz="1800" dirty="0"/>
          </a:p>
          <a:p>
            <a:pPr marL="488950" indent="-285750">
              <a:spcBef>
                <a:spcPts val="0"/>
              </a:spcBef>
              <a:buSzPct val="100000"/>
            </a:pPr>
            <a:r>
              <a:rPr lang="en-US" sz="1800" b="1" dirty="0"/>
              <a:t>Law Enforcement / Legal Authorities: </a:t>
            </a:r>
            <a:r>
              <a:rPr lang="en-US" sz="1800" b="0" dirty="0"/>
              <a:t>Use reports as evidence in fraud and defamation cases [12].</a:t>
            </a:r>
          </a:p>
          <a:p>
            <a:pPr marL="203200" indent="0">
              <a:spcBef>
                <a:spcPts val="0"/>
              </a:spcBef>
              <a:buNone/>
            </a:pPr>
            <a:endParaRPr lang="en-US" sz="1800" dirty="0"/>
          </a:p>
          <a:p>
            <a:pPr marL="488950" indent="-285750">
              <a:spcBef>
                <a:spcPts val="0"/>
              </a:spcBef>
              <a:buSzPct val="100000"/>
            </a:pPr>
            <a:r>
              <a:rPr lang="en-US" sz="1800" b="1" dirty="0"/>
              <a:t>Government / Regulatory Bodies: </a:t>
            </a:r>
            <a:r>
              <a:rPr lang="en-US" sz="1800" b="0" dirty="0"/>
              <a:t>Policy making, election integrity and national security [12].</a:t>
            </a:r>
          </a:p>
          <a:p>
            <a:pPr marL="203200" indent="0">
              <a:spcBef>
                <a:spcPts val="0"/>
              </a:spcBef>
              <a:buNone/>
            </a:pPr>
            <a:endParaRPr lang="en-US" sz="1800" dirty="0"/>
          </a:p>
          <a:p>
            <a:pPr marL="488950" indent="-285750">
              <a:spcBef>
                <a:spcPts val="0"/>
              </a:spcBef>
              <a:buSzPct val="100000"/>
            </a:pPr>
            <a:r>
              <a:rPr lang="en-US" sz="1800" b="1" dirty="0"/>
              <a:t>Banks / Corporates / Victims: </a:t>
            </a:r>
            <a:r>
              <a:rPr lang="en-US" sz="1800" b="0" dirty="0"/>
              <a:t>Prevent fraud such as fake video KYC and protect identity [3].</a:t>
            </a:r>
          </a:p>
          <a:p>
            <a:pPr marL="203200" indent="0">
              <a:spcBef>
                <a:spcPts val="0"/>
              </a:spcBef>
              <a:buNone/>
            </a:pPr>
            <a:endParaRPr lang="en-US" sz="1800" dirty="0"/>
          </a:p>
          <a:p>
            <a:pPr marL="488950" indent="-285750">
              <a:spcBef>
                <a:spcPts val="0"/>
              </a:spcBef>
              <a:buSzPct val="100000"/>
            </a:pPr>
            <a:r>
              <a:rPr lang="en-US" sz="1800" b="1" dirty="0"/>
              <a:t>Developers and Project Guide: </a:t>
            </a:r>
            <a:r>
              <a:rPr lang="en-US" sz="1800" b="0" dirty="0"/>
              <a:t>Build, test and evaluate the system.</a:t>
            </a:r>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r>
              <a:rPr lang="en-US" sz="3200" dirty="0"/>
              <a:t>6.4 Seminar Execution Plan</a:t>
            </a:r>
          </a:p>
        </p:txBody>
      </p:sp>
      <p:sp>
        <p:nvSpPr>
          <p:cNvPr id="588" name="Google Shape;588;p2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57200" indent="-342900" algn="just">
              <a:spcBef>
                <a:spcPts val="0"/>
              </a:spcBef>
              <a:buSzPct val="100000"/>
              <a:buFont typeface="+mj-lt"/>
              <a:buAutoNum type="arabicPeriod"/>
            </a:pPr>
            <a:r>
              <a:rPr lang="en-US" sz="1800" b="1" u="sng" dirty="0"/>
              <a:t>Current Scenario:</a:t>
            </a:r>
            <a:r>
              <a:rPr lang="en-US" sz="1800" b="0" dirty="0"/>
              <a:t> Deepfake videos spread quickly on social media and messaging apps [12].</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Deepfake Challenges:</a:t>
            </a:r>
            <a:r>
              <a:rPr lang="en-US" sz="1800" b="0" dirty="0"/>
              <a:t> Misinformation, fraud, defamation; humans cannot spot good fakes [3], [12].</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Existing Approaches:</a:t>
            </a:r>
            <a:r>
              <a:rPr lang="en-US" sz="1800" b="0" dirty="0"/>
              <a:t> CNN, LSTM, ViT, lip, attention and frequency based detectors [4]–[11].</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Research Gap:</a:t>
            </a:r>
            <a:r>
              <a:rPr lang="en-US" sz="1800" b="0" dirty="0"/>
              <a:t> Detectors work on trained datasets but fail on compressed or unseen fakes [2], [9].</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Proposed System:</a:t>
            </a:r>
            <a:r>
              <a:rPr lang="en-US" sz="1800" b="0" dirty="0"/>
              <a:t> Frame extraction + MTCNN + CNN + LSTM / transformer with confidence score [5], [8].</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Future Impact:</a:t>
            </a:r>
            <a:r>
              <a:rPr lang="en-US" sz="1800" b="0" dirty="0"/>
              <a:t> Reliable video verification and more trust in digital media [12].</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Future Work:</a:t>
            </a:r>
            <a:r>
              <a:rPr lang="en-US" sz="1800" b="0" dirty="0"/>
              <a:t> Real-time detection, audio deepfakes and better generalisation [9], [12].</a:t>
            </a:r>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r>
              <a:rPr lang="en-US" sz="3200" dirty="0"/>
              <a:t>6.5 Platform / Equipment / Resources</a:t>
            </a:r>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r>
              <a:rPr lang="en-US" sz="1800" b="1" dirty="0"/>
              <a:t>Hardware Requirements:</a:t>
            </a:r>
          </a:p>
          <a:p>
            <a:pPr marL="488950" indent="-285750">
              <a:spcBef>
                <a:spcPts val="0"/>
              </a:spcBef>
              <a:buSzPct val="100000"/>
            </a:pPr>
            <a:r>
              <a:rPr lang="en-US" sz="1800" b="0" dirty="0"/>
              <a:t>Computer / laptop (16 GB RAM recommended)</a:t>
            </a:r>
          </a:p>
          <a:p>
            <a:pPr marL="488950" indent="-285750">
              <a:spcBef>
                <a:spcPts val="0"/>
              </a:spcBef>
              <a:buSzPct val="100000"/>
            </a:pPr>
            <a:r>
              <a:rPr lang="en-US" sz="1800" b="0" dirty="0"/>
              <a:t>NVIDIA GPU (minimum 6 GB VRAM) for training</a:t>
            </a:r>
          </a:p>
          <a:p>
            <a:pPr marL="488950" indent="-285750">
              <a:spcBef>
                <a:spcPts val="0"/>
              </a:spcBef>
              <a:buSzPct val="100000"/>
            </a:pPr>
            <a:r>
              <a:rPr lang="en-US" sz="1800" b="0" dirty="0"/>
              <a:t>SSD / hard disk (minimum 512 GB) for datasets</a:t>
            </a:r>
          </a:p>
          <a:p>
            <a:pPr marL="488950" indent="-285750">
              <a:spcBef>
                <a:spcPts val="0"/>
              </a:spcBef>
              <a:buSzPct val="100000"/>
            </a:pPr>
            <a:r>
              <a:rPr lang="en-US" sz="1800" b="0" dirty="0"/>
              <a:t>Webcam / smartphone (optional) and Wi-Fi</a:t>
            </a:r>
          </a:p>
          <a:p>
            <a:pPr marL="203200" indent="0">
              <a:spcBef>
                <a:spcPts val="0"/>
              </a:spcBef>
              <a:buNone/>
            </a:pPr>
            <a:endParaRPr lang="en-US" sz="1800" dirty="0"/>
          </a:p>
          <a:p>
            <a:pPr marL="342900" lvl="0" indent="-139700">
              <a:spcBef>
                <a:spcPts val="0"/>
              </a:spcBef>
              <a:buSzPts val="3200"/>
              <a:buNone/>
            </a:pPr>
            <a:r>
              <a:rPr lang="en-US" sz="1800" b="1" dirty="0"/>
              <a:t>Software Requirements:</a:t>
            </a:r>
          </a:p>
          <a:p>
            <a:pPr marL="488950" indent="-285750">
              <a:spcBef>
                <a:spcPts val="0"/>
              </a:spcBef>
              <a:buSzPct val="100000"/>
            </a:pPr>
            <a:r>
              <a:rPr lang="en-US" sz="1800" b="0" dirty="0"/>
              <a:t>Operating system: Windows 11 / Ubuntu</a:t>
            </a:r>
          </a:p>
          <a:p>
            <a:pPr marL="488950" indent="-285750">
              <a:spcBef>
                <a:spcPts val="0"/>
              </a:spcBef>
              <a:buSzPct val="100000"/>
            </a:pPr>
            <a:r>
              <a:rPr lang="en-US" sz="1800" b="0" dirty="0"/>
              <a:t>Python 3.x with PyTorch / TensorFlow-Keras</a:t>
            </a:r>
          </a:p>
          <a:p>
            <a:pPr marL="488950" indent="-285750">
              <a:spcBef>
                <a:spcPts val="0"/>
              </a:spcBef>
              <a:buSzPct val="100000"/>
            </a:pPr>
            <a:r>
              <a:rPr lang="en-US" sz="1800" b="0" dirty="0"/>
              <a:t>OpenCV (frames) and MTCNN (face detection)</a:t>
            </a:r>
          </a:p>
          <a:p>
            <a:pPr marL="488950" indent="-285750">
              <a:spcBef>
                <a:spcPts val="0"/>
              </a:spcBef>
              <a:buSzPct val="100000"/>
            </a:pPr>
            <a:r>
              <a:rPr lang="en-US" sz="1800" b="0" dirty="0"/>
              <a:t>NumPy, Pandas, scikit-learn, Matplotlib</a:t>
            </a:r>
          </a:p>
          <a:p>
            <a:pPr marL="488950" indent="-285750">
              <a:spcBef>
                <a:spcPts val="0"/>
              </a:spcBef>
              <a:buSzPct val="100000"/>
            </a:pPr>
            <a:r>
              <a:rPr lang="en-US" sz="1800" b="0" dirty="0"/>
              <a:t>VS Code / Jupyter Notebook / Google Colab (free GPU)</a:t>
            </a:r>
          </a:p>
          <a:p>
            <a:pPr marL="203200" indent="0">
              <a:spcBef>
                <a:spcPts val="0"/>
              </a:spcBef>
              <a:buNone/>
            </a:pPr>
            <a:endParaRPr lang="en-US" sz="1800" dirty="0"/>
          </a:p>
          <a:p>
            <a:pPr marL="342900" lvl="0" indent="-139700">
              <a:spcBef>
                <a:spcPts val="0"/>
              </a:spcBef>
              <a:buSzPts val="3200"/>
              <a:buNone/>
            </a:pPr>
            <a:r>
              <a:rPr lang="en-US" sz="1800" b="1" dirty="0"/>
              <a:t>Other Resources:</a:t>
            </a:r>
          </a:p>
          <a:p>
            <a:pPr marL="488950" indent="-285750">
              <a:spcBef>
                <a:spcPts val="0"/>
              </a:spcBef>
              <a:buSzPct val="100000"/>
            </a:pPr>
            <a:r>
              <a:rPr lang="en-US" sz="1800" b="0" dirty="0"/>
              <a:t>Datasets: FaceForensics++, Celeb-DF, DFDC [1]–[3]</a:t>
            </a:r>
          </a:p>
          <a:p>
            <a:pPr marL="488950" indent="-285750">
              <a:spcBef>
                <a:spcPts val="0"/>
              </a:spcBef>
              <a:buSzPct val="100000"/>
            </a:pPr>
            <a:r>
              <a:rPr lang="en-US" sz="1800" b="0" dirty="0"/>
              <a:t>Streamlit / Flask demo interface (optional); internet connection</a:t>
            </a:r>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Bibliography</a:t>
            </a:r>
            <a:endParaRPr/>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US" sz="2100" b="1" dirty="0"/>
              <a:t>Research Papers</a:t>
            </a:r>
          </a:p>
          <a:p>
            <a:pPr algn="just">
              <a:spcBef>
                <a:spcPts val="0"/>
              </a:spcBef>
            </a:pPr>
            <a:r>
              <a:rPr lang="en-US" sz="1800" b="0" dirty="0"/>
              <a:t>FaceForensics++ — arxiv.org/abs/1901.08971</a:t>
            </a:r>
          </a:p>
          <a:p>
            <a:pPr algn="just">
              <a:spcBef>
                <a:spcPts val="0"/>
              </a:spcBef>
            </a:pPr>
            <a:r>
              <a:rPr lang="en-US" sz="1800" b="0" dirty="0"/>
              <a:t>Celeb-DF — arxiv.org/abs/1909.12962</a:t>
            </a:r>
          </a:p>
          <a:p>
            <a:pPr algn="just">
              <a:spcBef>
                <a:spcPts val="0"/>
              </a:spcBef>
            </a:pPr>
            <a:r>
              <a:rPr lang="en-US" sz="1800" b="0" dirty="0"/>
              <a:t>DFDC Dataset — arxiv.org/abs/2006.07397</a:t>
            </a:r>
          </a:p>
          <a:p>
            <a:pPr algn="just">
              <a:spcBef>
                <a:spcPts val="0"/>
              </a:spcBef>
            </a:pPr>
            <a:r>
              <a:rPr lang="en-US" sz="1800" b="0" dirty="0"/>
              <a:t>MesoNet — arxiv.org/abs/1809.00888</a:t>
            </a:r>
          </a:p>
          <a:p>
            <a:pPr marL="203200" indent="0">
              <a:spcBef>
                <a:spcPts val="0"/>
              </a:spcBef>
              <a:buNone/>
            </a:pPr>
            <a:endParaRPr lang="en-US" sz="1800" dirty="0"/>
          </a:p>
          <a:p>
            <a:r>
              <a:rPr lang="en-US" sz="2100" b="1" dirty="0"/>
              <a:t>Websites</a:t>
            </a:r>
          </a:p>
          <a:p>
            <a:pPr algn="just">
              <a:spcBef>
                <a:spcPts val="0"/>
              </a:spcBef>
            </a:pPr>
            <a:r>
              <a:rPr lang="en-US" sz="1800" b="0" dirty="0"/>
              <a:t>PyTorch Documentation — pytorch.org/docs</a:t>
            </a:r>
          </a:p>
          <a:p>
            <a:pPr algn="just">
              <a:spcBef>
                <a:spcPts val="0"/>
              </a:spcBef>
            </a:pPr>
            <a:r>
              <a:rPr lang="en-US" sz="1800" b="0" dirty="0"/>
              <a:t>OpenCV Documentation — docs.opencv.org</a:t>
            </a:r>
          </a:p>
          <a:p>
            <a:pPr algn="just">
              <a:spcBef>
                <a:spcPts val="0"/>
              </a:spcBef>
            </a:pPr>
            <a:r>
              <a:rPr lang="en-US" sz="1800" b="0" dirty="0"/>
              <a:t>Python 3 Documentation — docs.python.org/3</a:t>
            </a:r>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References</a:t>
            </a:r>
            <a:endParaRPr/>
          </a:p>
        </p:txBody>
      </p:sp>
      <p:sp>
        <p:nvSpPr>
          <p:cNvPr id="609" name="Google Shape;609;p28"/>
          <p:cNvSpPr txBox="1">
            <a:spLocks noGrp="1"/>
          </p:cNvSpPr>
          <p:nvPr>
            <p:ph type="body" idx="1"/>
          </p:nvPr>
        </p:nvSpPr>
        <p:spPr>
          <a:xfrm>
            <a:off x="457200" y="1219200"/>
            <a:ext cx="8229600" cy="5638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114300" indent="0">
              <a:spcBef>
                <a:spcPts val="0"/>
              </a:spcBef>
              <a:buNone/>
            </a:pPr>
            <a:r>
              <a:rPr lang="en-US" sz="1600" b="1" dirty="0"/>
              <a:t>Research Papers</a:t>
            </a:r>
          </a:p>
          <a:p>
            <a:pPr marL="0" indent="0" algn="just">
              <a:spcBef>
                <a:spcPts val="0"/>
              </a:spcBef>
              <a:spcAft>
                <a:spcPts val="200"/>
              </a:spcAft>
              <a:buNone/>
            </a:pPr>
            <a:r>
              <a:rPr lang="en-US" sz="1400" b="0" dirty="0"/>
              <a:t>[1] Rössler et al. (2019), FaceForensics++: Learning to Detect Manipulated Facial Images</a:t>
            </a:r>
          </a:p>
          <a:p>
            <a:pPr marL="0" indent="0" algn="just">
              <a:spcBef>
                <a:spcPts val="0"/>
              </a:spcBef>
              <a:spcAft>
                <a:spcPts val="200"/>
              </a:spcAft>
              <a:buNone/>
            </a:pPr>
            <a:r>
              <a:rPr lang="en-US" sz="1400" b="0" dirty="0"/>
              <a:t>[2] Li et al. (2020), Celeb-DF: A Large-Scale Challenging Dataset for DeepFake Forensics</a:t>
            </a:r>
          </a:p>
          <a:p>
            <a:pPr marL="0" indent="0" algn="just">
              <a:spcBef>
                <a:spcPts val="0"/>
              </a:spcBef>
              <a:spcAft>
                <a:spcPts val="200"/>
              </a:spcAft>
              <a:buNone/>
            </a:pPr>
            <a:r>
              <a:rPr lang="en-US" sz="1400" b="0" dirty="0"/>
              <a:t>[3] Dolhansky et al. (2020), The DeepFake Detection Challenge (DFDC) Dataset</a:t>
            </a:r>
          </a:p>
          <a:p>
            <a:pPr marL="0" indent="0" algn="just">
              <a:spcBef>
                <a:spcPts val="0"/>
              </a:spcBef>
              <a:spcAft>
                <a:spcPts val="200"/>
              </a:spcAft>
              <a:buNone/>
            </a:pPr>
            <a:r>
              <a:rPr lang="en-US" sz="1400" b="0" dirty="0"/>
              <a:t>[4] Afchar et al. (2018), MesoNet: a Compact Facial Video Forgery Detection Network</a:t>
            </a:r>
          </a:p>
          <a:p>
            <a:pPr marL="0" indent="0" algn="just">
              <a:spcBef>
                <a:spcPts val="0"/>
              </a:spcBef>
              <a:spcAft>
                <a:spcPts val="200"/>
              </a:spcAft>
              <a:buNone/>
            </a:pPr>
            <a:r>
              <a:rPr lang="en-US" sz="1400" b="0" dirty="0"/>
              <a:t>[5] Güera &amp; Delp (2018), Deepfake Video Detection Using Recurrent Neural Networks</a:t>
            </a:r>
          </a:p>
          <a:p>
            <a:pPr marL="0" indent="0" algn="just">
              <a:spcBef>
                <a:spcPts val="0"/>
              </a:spcBef>
              <a:spcAft>
                <a:spcPts val="200"/>
              </a:spcAft>
              <a:buNone/>
            </a:pPr>
            <a:r>
              <a:rPr lang="en-US" sz="1400" b="0" dirty="0"/>
              <a:t>[6] Li &amp; Lyu (2019), Exposing DeepFake Videos By Detecting Face Warping Artifacts</a:t>
            </a:r>
          </a:p>
          <a:p>
            <a:pPr marL="0" indent="0" algn="just">
              <a:spcBef>
                <a:spcPts val="0"/>
              </a:spcBef>
              <a:spcAft>
                <a:spcPts val="200"/>
              </a:spcAft>
              <a:buNone/>
            </a:pPr>
            <a:r>
              <a:rPr lang="en-US" sz="1400" b="0" dirty="0"/>
              <a:t>[7] Li, Chang &amp; Lyu (2018), In Ictu Oculi: Exposing AI Created Fake Videos by Detecting Eye Blinking</a:t>
            </a:r>
          </a:p>
          <a:p>
            <a:pPr marL="0" indent="0" algn="just">
              <a:spcBef>
                <a:spcPts val="0"/>
              </a:spcBef>
              <a:spcAft>
                <a:spcPts val="200"/>
              </a:spcAft>
              <a:buNone/>
            </a:pPr>
            <a:r>
              <a:rPr lang="en-US" sz="1400" b="0" dirty="0"/>
              <a:t>[8] Coccomini et al. (2021), Combining EfficientNet and Vision Transformers for Video Deepfake Detection</a:t>
            </a:r>
          </a:p>
          <a:p>
            <a:pPr marL="0" indent="0" algn="just">
              <a:spcBef>
                <a:spcPts val="0"/>
              </a:spcBef>
              <a:spcAft>
                <a:spcPts val="200"/>
              </a:spcAft>
              <a:buNone/>
            </a:pPr>
            <a:r>
              <a:rPr lang="en-US" sz="1400" b="0" dirty="0"/>
              <a:t>[9] Haliassos et al. (2021), Lips Don’t Lie: A Generalisable and Robust Approach to Face Forgery Detection</a:t>
            </a:r>
          </a:p>
          <a:p>
            <a:pPr marL="0" indent="0" algn="just">
              <a:spcBef>
                <a:spcPts val="0"/>
              </a:spcBef>
              <a:spcAft>
                <a:spcPts val="200"/>
              </a:spcAft>
              <a:buNone/>
            </a:pPr>
            <a:r>
              <a:rPr lang="en-US" sz="1400" b="0" dirty="0"/>
              <a:t>[10] Zhao et al. (2021), Multi-attentional Deepfake Detection</a:t>
            </a:r>
          </a:p>
          <a:p>
            <a:pPr marL="0" indent="0" algn="just">
              <a:spcBef>
                <a:spcPts val="0"/>
              </a:spcBef>
              <a:spcAft>
                <a:spcPts val="200"/>
              </a:spcAft>
              <a:buNone/>
            </a:pPr>
            <a:r>
              <a:rPr lang="en-US" sz="1400" b="0" dirty="0"/>
              <a:t>[11] Qian et al. (2020), Thinking in Frequency: Face Forgery Detection by Mining Frequency-Aware Clues</a:t>
            </a:r>
          </a:p>
          <a:p>
            <a:pPr marL="0" indent="0" algn="just">
              <a:spcBef>
                <a:spcPts val="0"/>
              </a:spcBef>
              <a:spcAft>
                <a:spcPts val="200"/>
              </a:spcAft>
              <a:buNone/>
            </a:pPr>
            <a:r>
              <a:rPr lang="en-US" sz="1400" b="0" dirty="0"/>
              <a:t>[12] Mirsky &amp; Lee (2021), The Creation and Detection of Deepfakes: A Survey</a:t>
            </a:r>
          </a:p>
          <a:p>
            <a:pPr marL="114300" indent="0">
              <a:spcBef>
                <a:spcPts val="0"/>
              </a:spcBef>
              <a:buNone/>
            </a:pPr>
            <a:r>
              <a:rPr lang="en-US" sz="1600" b="1" dirty="0"/>
              <a:t>Other Sources</a:t>
            </a:r>
          </a:p>
          <a:p>
            <a:pPr marL="0" indent="0" algn="just">
              <a:spcBef>
                <a:spcPts val="0"/>
              </a:spcBef>
              <a:spcAft>
                <a:spcPts val="200"/>
              </a:spcAft>
              <a:buNone/>
            </a:pPr>
            <a:r>
              <a:rPr lang="en-US" sz="1400" b="0" dirty="0"/>
              <a:t>[13] PyTorch Documentation — pytorch.org/docs</a:t>
            </a:r>
          </a:p>
          <a:p>
            <a:pPr marL="0" indent="0" algn="just">
              <a:spcBef>
                <a:spcPts val="0"/>
              </a:spcBef>
              <a:spcAft>
                <a:spcPts val="200"/>
              </a:spcAft>
              <a:buNone/>
            </a:pPr>
            <a:r>
              <a:rPr lang="en-US" sz="1400" b="0" dirty="0"/>
              <a:t>[14] OpenCV Documentation — docs.opencv.org</a:t>
            </a:r>
          </a:p>
          <a:p>
            <a:pPr marL="0" indent="0" algn="just">
              <a:spcBef>
                <a:spcPts val="0"/>
              </a:spcBef>
              <a:spcAft>
                <a:spcPts val="200"/>
              </a:spcAft>
              <a:buNone/>
            </a:pPr>
            <a:r>
              <a:rPr lang="en-US" sz="1400" b="0" dirty="0"/>
              <a:t>[15] Python 3 Documentation — docs.python.org/3</a:t>
            </a:r>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a:solidFill>
                  <a:srgbClr val="262626"/>
                </a:solidFill>
                <a:latin typeface="Times New Roman"/>
                <a:ea typeface="Times New Roman"/>
                <a:cs typeface="Times New Roman"/>
                <a:sym typeface="Times New Roman"/>
              </a:rPr>
              <a:t>Thank you</a:t>
            </a:r>
            <a:endParaRP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TotalTime>
  <Words>1741</Words>
  <Application>Microsoft Office PowerPoint</Application>
  <PresentationFormat>On-screen Show (4:3)</PresentationFormat>
  <Paragraphs>193</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Contents</vt:lpstr>
      <vt:lpstr>Abstract</vt:lpstr>
      <vt:lpstr>1. Introduction</vt:lpstr>
      <vt:lpstr>2. Literature Survey</vt:lpstr>
      <vt:lpstr>PowerPoint Presentation</vt:lpstr>
      <vt:lpstr>3. Information to seminar topic</vt:lpstr>
      <vt:lpstr>4. Advantages / Disadvantages</vt:lpstr>
      <vt:lpstr>5. Conclusion</vt:lpstr>
      <vt:lpstr>6. Project Initiation</vt:lpstr>
      <vt:lpstr>6.1 Description of Problem Statement</vt:lpstr>
      <vt:lpstr>6.2 Scope and Objectives</vt:lpstr>
      <vt:lpstr>6.3 Stakeholders</vt:lpstr>
      <vt:lpstr>6.4 Seminar Execution Plan</vt:lpstr>
      <vt:lpstr>6.5 Platform / Equipment / Resources</vt:lpstr>
      <vt:lpstr>Bibliography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DAKSH SHELAR</cp:lastModifiedBy>
  <cp:revision>8</cp:revision>
  <dcterms:modified xsi:type="dcterms:W3CDTF">2026-10-19T07:24:54Z</dcterms:modified>
</cp:coreProperties>
</file>